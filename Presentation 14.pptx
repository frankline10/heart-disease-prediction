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23"/>
  </p:notesMasterIdLst>
  <p:handoutMasterIdLst>
    <p:handoutMasterId r:id="rId24"/>
  </p:handoutMasterIdLst>
  <p:sldIdLst>
    <p:sldId id="256" r:id="rId5"/>
    <p:sldId id="292" r:id="rId6"/>
    <p:sldId id="266" r:id="rId7"/>
    <p:sldId id="295" r:id="rId8"/>
    <p:sldId id="293" r:id="rId9"/>
    <p:sldId id="283" r:id="rId10"/>
    <p:sldId id="264" r:id="rId11"/>
    <p:sldId id="297" r:id="rId12"/>
    <p:sldId id="289" r:id="rId13"/>
    <p:sldId id="298" r:id="rId14"/>
    <p:sldId id="299" r:id="rId15"/>
    <p:sldId id="285" r:id="rId16"/>
    <p:sldId id="300" r:id="rId17"/>
    <p:sldId id="301" r:id="rId18"/>
    <p:sldId id="287" r:id="rId19"/>
    <p:sldId id="302" r:id="rId20"/>
    <p:sldId id="303" r:id="rId21"/>
    <p:sldId id="29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FA65D5-CA0D-4261-B789-E9BA18DDCE2F}" v="1419" dt="2026-04-20T08:06:31.119"/>
  </p1510:revLst>
</p1510:revInfo>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5388" autoAdjust="0"/>
  </p:normalViewPr>
  <p:slideViewPr>
    <p:cSldViewPr snapToGrid="0" showGuides="1">
      <p:cViewPr varScale="1">
        <p:scale>
          <a:sx n="104" d="100"/>
          <a:sy n="104" d="100"/>
        </p:scale>
        <p:origin x="84" y="552"/>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4/19/2026</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4/19/2026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dirty="0"/>
          </a:p>
        </p:txBody>
      </p:sp>
    </p:spTree>
    <p:extLst>
      <p:ext uri="{BB962C8B-B14F-4D97-AF65-F5344CB8AC3E}">
        <p14:creationId xmlns:p14="http://schemas.microsoft.com/office/powerpoint/2010/main" val="972850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3</a:t>
            </a:fld>
            <a:endParaRPr lang="en-US" dirty="0"/>
          </a:p>
        </p:txBody>
      </p:sp>
    </p:spTree>
    <p:extLst>
      <p:ext uri="{BB962C8B-B14F-4D97-AF65-F5344CB8AC3E}">
        <p14:creationId xmlns:p14="http://schemas.microsoft.com/office/powerpoint/2010/main" val="3946574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4</a:t>
            </a:fld>
            <a:endParaRPr lang="en-US" dirty="0"/>
          </a:p>
        </p:txBody>
      </p:sp>
    </p:spTree>
    <p:extLst>
      <p:ext uri="{BB962C8B-B14F-4D97-AF65-F5344CB8AC3E}">
        <p14:creationId xmlns:p14="http://schemas.microsoft.com/office/powerpoint/2010/main" val="1039793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5</a:t>
            </a:fld>
            <a:endParaRPr lang="en-US" dirty="0"/>
          </a:p>
        </p:txBody>
      </p:sp>
    </p:spTree>
    <p:extLst>
      <p:ext uri="{BB962C8B-B14F-4D97-AF65-F5344CB8AC3E}">
        <p14:creationId xmlns:p14="http://schemas.microsoft.com/office/powerpoint/2010/main" val="990704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6</a:t>
            </a:fld>
            <a:endParaRPr lang="en-US" dirty="0"/>
          </a:p>
        </p:txBody>
      </p:sp>
    </p:spTree>
    <p:extLst>
      <p:ext uri="{BB962C8B-B14F-4D97-AF65-F5344CB8AC3E}">
        <p14:creationId xmlns:p14="http://schemas.microsoft.com/office/powerpoint/2010/main" val="1657027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7</a:t>
            </a:fld>
            <a:endParaRPr lang="en-US" dirty="0"/>
          </a:p>
        </p:txBody>
      </p:sp>
    </p:spTree>
    <p:extLst>
      <p:ext uri="{BB962C8B-B14F-4D97-AF65-F5344CB8AC3E}">
        <p14:creationId xmlns:p14="http://schemas.microsoft.com/office/powerpoint/2010/main" val="3690289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C33A3-52EB-1FFF-DEFA-E4F5B05E8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2736A-888E-B3C1-840F-425889C51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947D4-0DF6-DEE6-532F-B04BA02AEC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9765F6-2B6F-547A-F5D2-5433537021FB}"/>
              </a:ext>
            </a:extLst>
          </p:cNvPr>
          <p:cNvSpPr>
            <a:spLocks noGrp="1"/>
          </p:cNvSpPr>
          <p:nvPr>
            <p:ph type="sldNum" sz="quarter" idx="5"/>
          </p:nvPr>
        </p:nvSpPr>
        <p:spPr/>
        <p:txBody>
          <a:bodyPr/>
          <a:lstStyle/>
          <a:p>
            <a:fld id="{B63359F2-43EF-4812-9DC0-98C0B1A40681}" type="slidenum">
              <a:rPr lang="en-US" smtClean="0"/>
              <a:t>8</a:t>
            </a:fld>
            <a:endParaRPr lang="en-US" dirty="0"/>
          </a:p>
        </p:txBody>
      </p:sp>
    </p:spTree>
    <p:extLst>
      <p:ext uri="{BB962C8B-B14F-4D97-AF65-F5344CB8AC3E}">
        <p14:creationId xmlns:p14="http://schemas.microsoft.com/office/powerpoint/2010/main" val="2543223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8</a:t>
            </a:fld>
            <a:endParaRPr lang="en-US" dirty="0"/>
          </a:p>
        </p:txBody>
      </p:sp>
    </p:spTree>
    <p:extLst>
      <p:ext uri="{BB962C8B-B14F-4D97-AF65-F5344CB8AC3E}">
        <p14:creationId xmlns:p14="http://schemas.microsoft.com/office/powerpoint/2010/main" val="2047023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71239-D262-FFAE-5927-22E4DBE28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02F67-B476-182E-0AD9-59F8439F3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4AB32-CC2D-032E-8503-738C3A8301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B664BC-6AB7-D719-392E-7BB774EB2A23}"/>
              </a:ext>
            </a:extLst>
          </p:cNvPr>
          <p:cNvSpPr>
            <a:spLocks noGrp="1"/>
          </p:cNvSpPr>
          <p:nvPr>
            <p:ph type="sldNum" sz="quarter" idx="5"/>
          </p:nvPr>
        </p:nvSpPr>
        <p:spPr/>
        <p:txBody>
          <a:bodyPr/>
          <a:lstStyle/>
          <a:p>
            <a:fld id="{B63359F2-43EF-4812-9DC0-98C0B1A40681}" type="slidenum">
              <a:rPr lang="en-US" smtClean="0"/>
              <a:t>10</a:t>
            </a:fld>
            <a:endParaRPr lang="en-US" dirty="0"/>
          </a:p>
        </p:txBody>
      </p:sp>
    </p:spTree>
    <p:extLst>
      <p:ext uri="{BB962C8B-B14F-4D97-AF65-F5344CB8AC3E}">
        <p14:creationId xmlns:p14="http://schemas.microsoft.com/office/powerpoint/2010/main" val="3940927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70F17-2FA5-89FD-E12A-5348A2B14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988C4-5FD4-0CC1-E3CE-508B9ACEE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EF28F-9F8B-06DC-E80F-112752EB9F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7418F0-47A6-07E4-BEC5-614A9A30A1AA}"/>
              </a:ext>
            </a:extLst>
          </p:cNvPr>
          <p:cNvSpPr>
            <a:spLocks noGrp="1"/>
          </p:cNvSpPr>
          <p:nvPr>
            <p:ph type="sldNum" sz="quarter" idx="5"/>
          </p:nvPr>
        </p:nvSpPr>
        <p:spPr/>
        <p:txBody>
          <a:bodyPr/>
          <a:lstStyle/>
          <a:p>
            <a:fld id="{B63359F2-43EF-4812-9DC0-98C0B1A40681}" type="slidenum">
              <a:rPr lang="en-US" smtClean="0"/>
              <a:t>11</a:t>
            </a:fld>
            <a:endParaRPr lang="en-US" dirty="0"/>
          </a:p>
        </p:txBody>
      </p:sp>
    </p:spTree>
    <p:extLst>
      <p:ext uri="{BB962C8B-B14F-4D97-AF65-F5344CB8AC3E}">
        <p14:creationId xmlns:p14="http://schemas.microsoft.com/office/powerpoint/2010/main" val="3216838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12</a:t>
            </a:fld>
            <a:endParaRPr lang="en-US" dirty="0"/>
          </a:p>
        </p:txBody>
      </p:sp>
    </p:spTree>
    <p:extLst>
      <p:ext uri="{BB962C8B-B14F-4D97-AF65-F5344CB8AC3E}">
        <p14:creationId xmlns:p14="http://schemas.microsoft.com/office/powerpoint/2010/main" val="3734319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1E704-26DB-A583-791C-DA39029F1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EA0BC1-D89F-2B53-23E3-E7D355F13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E2CFA-0690-0666-F111-1B74C2CAF4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46620B-3882-9BF5-BC5C-6C7AEAEC03E8}"/>
              </a:ext>
            </a:extLst>
          </p:cNvPr>
          <p:cNvSpPr>
            <a:spLocks noGrp="1"/>
          </p:cNvSpPr>
          <p:nvPr>
            <p:ph type="sldNum" sz="quarter" idx="5"/>
          </p:nvPr>
        </p:nvSpPr>
        <p:spPr/>
        <p:txBody>
          <a:bodyPr/>
          <a:lstStyle/>
          <a:p>
            <a:fld id="{B63359F2-43EF-4812-9DC0-98C0B1A40681}" type="slidenum">
              <a:rPr lang="en-US" smtClean="0"/>
              <a:t>12</a:t>
            </a:fld>
            <a:endParaRPr lang="en-US" dirty="0"/>
          </a:p>
        </p:txBody>
      </p:sp>
    </p:spTree>
    <p:extLst>
      <p:ext uri="{BB962C8B-B14F-4D97-AF65-F5344CB8AC3E}">
        <p14:creationId xmlns:p14="http://schemas.microsoft.com/office/powerpoint/2010/main" val="3652146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C0EF0-7073-501F-CDA3-97BBD81C7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FBB0E-8DB4-BC5A-B38A-A9515DD565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69CAC-6BDB-7E0E-627D-4A590C6D3E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F0A483-1E71-838E-D4FA-91FF8A9C8E5A}"/>
              </a:ext>
            </a:extLst>
          </p:cNvPr>
          <p:cNvSpPr>
            <a:spLocks noGrp="1"/>
          </p:cNvSpPr>
          <p:nvPr>
            <p:ph type="sldNum" sz="quarter" idx="5"/>
          </p:nvPr>
        </p:nvSpPr>
        <p:spPr/>
        <p:txBody>
          <a:bodyPr/>
          <a:lstStyle/>
          <a:p>
            <a:fld id="{B63359F2-43EF-4812-9DC0-98C0B1A40681}" type="slidenum">
              <a:rPr lang="en-US" smtClean="0"/>
              <a:t>13</a:t>
            </a:fld>
            <a:endParaRPr lang="en-US" dirty="0"/>
          </a:p>
        </p:txBody>
      </p:sp>
    </p:spTree>
    <p:extLst>
      <p:ext uri="{BB962C8B-B14F-4D97-AF65-F5344CB8AC3E}">
        <p14:creationId xmlns:p14="http://schemas.microsoft.com/office/powerpoint/2010/main" val="1960579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9</a:t>
            </a:fld>
            <a:endParaRPr lang="en-US" dirty="0"/>
          </a:p>
        </p:txBody>
      </p:sp>
    </p:spTree>
    <p:extLst>
      <p:ext uri="{BB962C8B-B14F-4D97-AF65-F5344CB8AC3E}">
        <p14:creationId xmlns:p14="http://schemas.microsoft.com/office/powerpoint/2010/main" val="1174803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DFF98-A2A5-0941-4B01-2412E2E661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6E579-C25A-D7DA-E461-AA965265B1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B1D5D3-DF82-E7D5-A6B0-D17D953017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AC0FC4-8852-6BE9-5810-42D1343F5097}"/>
              </a:ext>
            </a:extLst>
          </p:cNvPr>
          <p:cNvSpPr>
            <a:spLocks noGrp="1"/>
          </p:cNvSpPr>
          <p:nvPr>
            <p:ph type="sldNum" sz="quarter" idx="5"/>
          </p:nvPr>
        </p:nvSpPr>
        <p:spPr/>
        <p:txBody>
          <a:bodyPr/>
          <a:lstStyle/>
          <a:p>
            <a:fld id="{B63359F2-43EF-4812-9DC0-98C0B1A40681}" type="slidenum">
              <a:rPr lang="en-US" smtClean="0"/>
              <a:t>15</a:t>
            </a:fld>
            <a:endParaRPr lang="en-US" dirty="0"/>
          </a:p>
        </p:txBody>
      </p:sp>
    </p:spTree>
    <p:extLst>
      <p:ext uri="{BB962C8B-B14F-4D97-AF65-F5344CB8AC3E}">
        <p14:creationId xmlns:p14="http://schemas.microsoft.com/office/powerpoint/2010/main" val="3217123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AA5A3-93F4-7205-FA3B-6C2EFCDCF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5987F-F7EA-4618-16FC-FC67C8BFE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137816-B544-F198-17D4-C51C90AF8C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2C3928-FF57-F70E-3841-309CE4C05CFF}"/>
              </a:ext>
            </a:extLst>
          </p:cNvPr>
          <p:cNvSpPr>
            <a:spLocks noGrp="1"/>
          </p:cNvSpPr>
          <p:nvPr>
            <p:ph type="sldNum" sz="quarter" idx="5"/>
          </p:nvPr>
        </p:nvSpPr>
        <p:spPr/>
        <p:txBody>
          <a:bodyPr/>
          <a:lstStyle/>
          <a:p>
            <a:fld id="{B63359F2-43EF-4812-9DC0-98C0B1A40681}" type="slidenum">
              <a:rPr lang="en-US" smtClean="0"/>
              <a:t>16</a:t>
            </a:fld>
            <a:endParaRPr lang="en-US" dirty="0"/>
          </a:p>
        </p:txBody>
      </p:sp>
    </p:spTree>
    <p:extLst>
      <p:ext uri="{BB962C8B-B14F-4D97-AF65-F5344CB8AC3E}">
        <p14:creationId xmlns:p14="http://schemas.microsoft.com/office/powerpoint/2010/main" val="1931641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13</a:t>
            </a:fld>
            <a:endParaRPr lang="en-US" dirty="0"/>
          </a:p>
        </p:txBody>
      </p:sp>
    </p:spTree>
    <p:extLst>
      <p:ext uri="{BB962C8B-B14F-4D97-AF65-F5344CB8AC3E}">
        <p14:creationId xmlns:p14="http://schemas.microsoft.com/office/powerpoint/2010/main" val="119346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709561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5216222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620489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7124459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56676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701270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96369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4822553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3300448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488591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630456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dirty="0"/>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2186295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457200" y="640079"/>
            <a:ext cx="3657600" cy="2100851"/>
          </a:xfrm>
        </p:spPr>
        <p:txBody>
          <a:bodyPr>
            <a:noAutofit/>
          </a:bodyPr>
          <a:lstStyle>
            <a:lvl1pPr>
              <a:defRPr/>
            </a:lvl1pPr>
          </a:lstStyle>
          <a:p>
            <a:endParaRPr lang="en-US" dirty="0"/>
          </a:p>
        </p:txBody>
      </p:sp>
      <p:sp>
        <p:nvSpPr>
          <p:cNvPr id="2" name="Content Placeholder 5">
            <a:extLst>
              <a:ext uri="{FF2B5EF4-FFF2-40B4-BE49-F238E27FC236}">
                <a16:creationId xmlns:a16="http://schemas.microsoft.com/office/drawing/2014/main" id="{FC87D77D-2EA4-028B-1ACF-E1120CE8F0E0}"/>
              </a:ext>
            </a:extLst>
          </p:cNvPr>
          <p:cNvSpPr>
            <a:spLocks noGrp="1"/>
          </p:cNvSpPr>
          <p:nvPr>
            <p:ph sz="quarter" idx="4" hasCustomPrompt="1"/>
          </p:nvPr>
        </p:nvSpPr>
        <p:spPr>
          <a:xfrm>
            <a:off x="457201" y="2862470"/>
            <a:ext cx="3657600" cy="3510898"/>
          </a:xfrm>
        </p:spPr>
        <p:txBody>
          <a:bodyPr anchor="t" anchorCtr="0">
            <a:normAutofit/>
          </a:bodyPr>
          <a:lstStyle>
            <a:lvl1pPr marL="0" indent="0">
              <a:buNone/>
              <a:defRPr/>
            </a:lvl1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CCFA45C0-9EBE-13AF-9B5D-9D5F4BF223E0}"/>
              </a:ext>
            </a:extLst>
          </p:cNvPr>
          <p:cNvSpPr>
            <a:spLocks noGrp="1"/>
          </p:cNvSpPr>
          <p:nvPr>
            <p:ph type="pic" sz="quarter" idx="13" hasCustomPrompt="1"/>
          </p:nvPr>
        </p:nvSpPr>
        <p:spPr>
          <a:xfrm>
            <a:off x="4242815" y="640080"/>
            <a:ext cx="7491984" cy="5751576"/>
          </a:xfrm>
          <a:custGeom>
            <a:avLst/>
            <a:gdLst>
              <a:gd name="connsiteX0" fmla="*/ 3800341 w 7491984"/>
              <a:gd name="connsiteY0" fmla="*/ 0 h 5751576"/>
              <a:gd name="connsiteX1" fmla="*/ 7491984 w 7491984"/>
              <a:gd name="connsiteY1" fmla="*/ 0 h 5751576"/>
              <a:gd name="connsiteX2" fmla="*/ 7491984 w 7491984"/>
              <a:gd name="connsiteY2" fmla="*/ 5751576 h 5751576"/>
              <a:gd name="connsiteX3" fmla="*/ 3800341 w 7491984"/>
              <a:gd name="connsiteY3" fmla="*/ 5751576 h 5751576"/>
              <a:gd name="connsiteX4" fmla="*/ 0 w 7491984"/>
              <a:gd name="connsiteY4" fmla="*/ 0 h 5751576"/>
              <a:gd name="connsiteX5" fmla="*/ 3696432 w 7491984"/>
              <a:gd name="connsiteY5" fmla="*/ 0 h 5751576"/>
              <a:gd name="connsiteX6" fmla="*/ 3696432 w 7491984"/>
              <a:gd name="connsiteY6" fmla="*/ 5751576 h 5751576"/>
              <a:gd name="connsiteX7" fmla="*/ 0 w 7491984"/>
              <a:gd name="connsiteY7" fmla="*/ 5751576 h 57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1984" h="5751576">
                <a:moveTo>
                  <a:pt x="3800341" y="0"/>
                </a:moveTo>
                <a:lnTo>
                  <a:pt x="7491984" y="0"/>
                </a:lnTo>
                <a:lnTo>
                  <a:pt x="7491984" y="5751576"/>
                </a:lnTo>
                <a:lnTo>
                  <a:pt x="3800341" y="5751576"/>
                </a:lnTo>
                <a:close/>
                <a:moveTo>
                  <a:pt x="0" y="0"/>
                </a:moveTo>
                <a:lnTo>
                  <a:pt x="3696432" y="0"/>
                </a:lnTo>
                <a:lnTo>
                  <a:pt x="3696432" y="5751576"/>
                </a:lnTo>
                <a:lnTo>
                  <a:pt x="0" y="575157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9" name="Date Placeholder 8">
            <a:extLst>
              <a:ext uri="{FF2B5EF4-FFF2-40B4-BE49-F238E27FC236}">
                <a16:creationId xmlns:a16="http://schemas.microsoft.com/office/drawing/2014/main" id="{D5DDC5FA-EEDB-898F-533E-4094ADA899B9}"/>
              </a:ext>
            </a:extLst>
          </p:cNvPr>
          <p:cNvSpPr>
            <a:spLocks noGrp="1"/>
          </p:cNvSpPr>
          <p:nvPr>
            <p:ph type="dt" sz="half" idx="15"/>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E79B0359-4B55-D899-E584-A8E6B2ED9123}"/>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6B916D02-76FE-EAED-CC51-A50448811F7D}"/>
              </a:ext>
            </a:extLst>
          </p:cNvPr>
          <p:cNvSpPr>
            <a:spLocks noGrp="1"/>
          </p:cNvSpPr>
          <p:nvPr>
            <p:ph type="sldNum" sz="quarter" idx="17"/>
          </p:nvPr>
        </p:nvSpPr>
        <p:spPr>
          <a:xfrm>
            <a:off x="10682289"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59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E787D40-90B5-470E-95A2-784F1CB479C9}"/>
              </a:ext>
            </a:extLst>
          </p:cNvPr>
          <p:cNvSpPr>
            <a:spLocks noGrp="1"/>
          </p:cNvSpPr>
          <p:nvPr>
            <p:ph type="ctrTitle" hasCustomPrompt="1"/>
          </p:nvPr>
        </p:nvSpPr>
        <p:spPr>
          <a:xfrm>
            <a:off x="449580" y="4423702"/>
            <a:ext cx="11292839" cy="1550378"/>
          </a:xfrm>
        </p:spPr>
        <p:txBody>
          <a:bodyPr>
            <a:noAutofit/>
          </a:bodyPr>
          <a:lstStyle>
            <a:lvl1pPr algn="ctr">
              <a:defRPr/>
            </a:lvl1pPr>
          </a:lstStyle>
          <a:p>
            <a:r>
              <a:rPr lang="en-US" dirty="0"/>
              <a:t>Click to add title</a:t>
            </a:r>
          </a:p>
        </p:txBody>
      </p:sp>
      <p:sp>
        <p:nvSpPr>
          <p:cNvPr id="3" name="Picture Placeholder 2">
            <a:extLst>
              <a:ext uri="{FF2B5EF4-FFF2-40B4-BE49-F238E27FC236}">
                <a16:creationId xmlns:a16="http://schemas.microsoft.com/office/drawing/2014/main" id="{D528BC27-38F1-47F3-EC35-7DD8B88A7533}"/>
              </a:ext>
            </a:extLst>
          </p:cNvPr>
          <p:cNvSpPr>
            <a:spLocks noGrp="1"/>
          </p:cNvSpPr>
          <p:nvPr>
            <p:ph type="pic" sz="quarter" idx="13" hasCustomPrompt="1"/>
          </p:nvPr>
        </p:nvSpPr>
        <p:spPr>
          <a:xfrm>
            <a:off x="449580" y="705104"/>
            <a:ext cx="11292840" cy="3643376"/>
          </a:xfrm>
          <a:custGeom>
            <a:avLst/>
            <a:gdLst>
              <a:gd name="connsiteX0" fmla="*/ 7593576 w 11292840"/>
              <a:gd name="connsiteY0" fmla="*/ 0 h 3643376"/>
              <a:gd name="connsiteX1" fmla="*/ 11292840 w 11292840"/>
              <a:gd name="connsiteY1" fmla="*/ 0 h 3643376"/>
              <a:gd name="connsiteX2" fmla="*/ 11292840 w 11292840"/>
              <a:gd name="connsiteY2" fmla="*/ 3643376 h 3643376"/>
              <a:gd name="connsiteX3" fmla="*/ 7593576 w 11292840"/>
              <a:gd name="connsiteY3" fmla="*/ 3643376 h 3643376"/>
              <a:gd name="connsiteX4" fmla="*/ 0 w 11292840"/>
              <a:gd name="connsiteY4" fmla="*/ 0 h 3643376"/>
              <a:gd name="connsiteX5" fmla="*/ 7489667 w 11292840"/>
              <a:gd name="connsiteY5" fmla="*/ 0 h 3643376"/>
              <a:gd name="connsiteX6" fmla="*/ 7489667 w 11292840"/>
              <a:gd name="connsiteY6" fmla="*/ 3643376 h 3643376"/>
              <a:gd name="connsiteX7" fmla="*/ 0 w 11292840"/>
              <a:gd name="connsiteY7" fmla="*/ 3643376 h 364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2840" h="3643376">
                <a:moveTo>
                  <a:pt x="7593576" y="0"/>
                </a:moveTo>
                <a:lnTo>
                  <a:pt x="11292840" y="0"/>
                </a:lnTo>
                <a:lnTo>
                  <a:pt x="11292840" y="3643376"/>
                </a:lnTo>
                <a:lnTo>
                  <a:pt x="7593576" y="3643376"/>
                </a:lnTo>
                <a:close/>
                <a:moveTo>
                  <a:pt x="0" y="0"/>
                </a:moveTo>
                <a:lnTo>
                  <a:pt x="7489667" y="0"/>
                </a:lnTo>
                <a:lnTo>
                  <a:pt x="7489667" y="3643376"/>
                </a:lnTo>
                <a:lnTo>
                  <a:pt x="0" y="3643376"/>
                </a:lnTo>
                <a:close/>
              </a:path>
            </a:pathLst>
          </a:custGeom>
          <a:solidFill>
            <a:schemeClr val="accent2"/>
          </a:solidFill>
        </p:spPr>
        <p:txBody>
          <a:bodyPr wrap="square" anchor="t">
            <a:noAutofit/>
          </a:bodyPr>
          <a:lstStyle>
            <a:lvl1pPr marL="0" indent="0" algn="ctr">
              <a:buNone/>
              <a:defRPr/>
            </a:lvl1pPr>
          </a:lstStyle>
          <a:p>
            <a:pPr marL="0" marR="0" lvl="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dirty="0"/>
              <a:t>Click to add picture</a:t>
            </a:r>
          </a:p>
          <a:p>
            <a:endParaRPr lang="en-US" dirty="0"/>
          </a:p>
        </p:txBody>
      </p:sp>
    </p:spTree>
    <p:extLst>
      <p:ext uri="{BB962C8B-B14F-4D97-AF65-F5344CB8AC3E}">
        <p14:creationId xmlns:p14="http://schemas.microsoft.com/office/powerpoint/2010/main" val="4768087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436882" y="629920"/>
            <a:ext cx="3606800" cy="2809240"/>
          </a:xfrm>
        </p:spPr>
        <p:txBody>
          <a:bodyPr anchor="b">
            <a:no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436881" y="3698240"/>
            <a:ext cx="3606800" cy="2271076"/>
          </a:xfrm>
        </p:spPr>
        <p:txBody>
          <a:bodyPr anchor="t">
            <a:no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702608" y="6423914"/>
            <a:ext cx="1052510" cy="365125"/>
          </a:xfrm>
        </p:spPr>
        <p:txBody>
          <a:bodyPr/>
          <a:lstStyle/>
          <a:p>
            <a:fld id="{CBD12358-51D2-46B3-9BDE-DF29528B9454}" type="slidenum">
              <a:rPr lang="en-US" smtClean="0"/>
              <a:t>‹#›</a:t>
            </a:fld>
            <a:endParaRPr lang="en-US" dirty="0"/>
          </a:p>
        </p:txBody>
      </p:sp>
      <p:sp>
        <p:nvSpPr>
          <p:cNvPr id="9" name="Picture Placeholder 8">
            <a:extLst>
              <a:ext uri="{FF2B5EF4-FFF2-40B4-BE49-F238E27FC236}">
                <a16:creationId xmlns:a16="http://schemas.microsoft.com/office/drawing/2014/main" id="{454FD2A1-D363-7C44-2A72-54E8B397D31A}"/>
              </a:ext>
            </a:extLst>
          </p:cNvPr>
          <p:cNvSpPr>
            <a:spLocks noGrp="1"/>
          </p:cNvSpPr>
          <p:nvPr>
            <p:ph type="pic" sz="quarter" idx="13"/>
          </p:nvPr>
        </p:nvSpPr>
        <p:spPr>
          <a:xfrm>
            <a:off x="4236720" y="650240"/>
            <a:ext cx="7518398" cy="5713918"/>
          </a:xfrm>
          <a:custGeom>
            <a:avLst/>
            <a:gdLst>
              <a:gd name="connsiteX0" fmla="*/ 3806436 w 7518398"/>
              <a:gd name="connsiteY0" fmla="*/ 4479475 h 5713918"/>
              <a:gd name="connsiteX1" fmla="*/ 7518398 w 7518398"/>
              <a:gd name="connsiteY1" fmla="*/ 4479475 h 5713918"/>
              <a:gd name="connsiteX2" fmla="*/ 7518398 w 7518398"/>
              <a:gd name="connsiteY2" fmla="*/ 5713918 h 5713918"/>
              <a:gd name="connsiteX3" fmla="*/ 3806436 w 7518398"/>
              <a:gd name="connsiteY3" fmla="*/ 5713918 h 5713918"/>
              <a:gd name="connsiteX4" fmla="*/ 0 w 7518398"/>
              <a:gd name="connsiteY4" fmla="*/ 4479475 h 5713918"/>
              <a:gd name="connsiteX5" fmla="*/ 3702527 w 7518398"/>
              <a:gd name="connsiteY5" fmla="*/ 4479475 h 5713918"/>
              <a:gd name="connsiteX6" fmla="*/ 3702527 w 7518398"/>
              <a:gd name="connsiteY6" fmla="*/ 5713918 h 5713918"/>
              <a:gd name="connsiteX7" fmla="*/ 0 w 7518398"/>
              <a:gd name="connsiteY7" fmla="*/ 5713918 h 5713918"/>
              <a:gd name="connsiteX8" fmla="*/ 3806436 w 7518398"/>
              <a:gd name="connsiteY8" fmla="*/ 0 h 5713918"/>
              <a:gd name="connsiteX9" fmla="*/ 7518398 w 7518398"/>
              <a:gd name="connsiteY9" fmla="*/ 0 h 5713918"/>
              <a:gd name="connsiteX10" fmla="*/ 7518398 w 7518398"/>
              <a:gd name="connsiteY10" fmla="*/ 4379183 h 5713918"/>
              <a:gd name="connsiteX11" fmla="*/ 3806436 w 7518398"/>
              <a:gd name="connsiteY11" fmla="*/ 4379183 h 5713918"/>
              <a:gd name="connsiteX12" fmla="*/ 0 w 7518398"/>
              <a:gd name="connsiteY12" fmla="*/ 0 h 5713918"/>
              <a:gd name="connsiteX13" fmla="*/ 3702527 w 7518398"/>
              <a:gd name="connsiteY13" fmla="*/ 0 h 5713918"/>
              <a:gd name="connsiteX14" fmla="*/ 3702527 w 7518398"/>
              <a:gd name="connsiteY14" fmla="*/ 4379183 h 5713918"/>
              <a:gd name="connsiteX15" fmla="*/ 0 w 7518398"/>
              <a:gd name="connsiteY15" fmla="*/ 4379183 h 571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518398" h="5713918">
                <a:moveTo>
                  <a:pt x="3806436" y="4479475"/>
                </a:moveTo>
                <a:lnTo>
                  <a:pt x="7518398" y="4479475"/>
                </a:lnTo>
                <a:lnTo>
                  <a:pt x="7518398" y="5713918"/>
                </a:lnTo>
                <a:lnTo>
                  <a:pt x="3806436" y="5713918"/>
                </a:lnTo>
                <a:close/>
                <a:moveTo>
                  <a:pt x="0" y="4479475"/>
                </a:moveTo>
                <a:lnTo>
                  <a:pt x="3702527" y="4479475"/>
                </a:lnTo>
                <a:lnTo>
                  <a:pt x="3702527" y="5713918"/>
                </a:lnTo>
                <a:lnTo>
                  <a:pt x="0" y="5713918"/>
                </a:lnTo>
                <a:close/>
                <a:moveTo>
                  <a:pt x="3806436" y="0"/>
                </a:moveTo>
                <a:lnTo>
                  <a:pt x="7518398" y="0"/>
                </a:lnTo>
                <a:lnTo>
                  <a:pt x="7518398" y="4379183"/>
                </a:lnTo>
                <a:lnTo>
                  <a:pt x="3806436" y="4379183"/>
                </a:lnTo>
                <a:close/>
                <a:moveTo>
                  <a:pt x="0" y="0"/>
                </a:moveTo>
                <a:lnTo>
                  <a:pt x="3702527" y="0"/>
                </a:lnTo>
                <a:lnTo>
                  <a:pt x="3702527" y="4379183"/>
                </a:lnTo>
                <a:lnTo>
                  <a:pt x="0" y="4379183"/>
                </a:lnTo>
                <a:close/>
              </a:path>
            </a:pathLst>
          </a:custGeom>
          <a:solidFill>
            <a:schemeClr val="accent2"/>
          </a:solidFill>
        </p:spPr>
        <p:txBody>
          <a:bodyPr wrap="square" anchor="t">
            <a:noAutofit/>
          </a:bodyPr>
          <a:lstStyle/>
          <a:p>
            <a:endParaRPr lang="en-US" dirty="0"/>
          </a:p>
        </p:txBody>
      </p:sp>
    </p:spTree>
    <p:extLst>
      <p:ext uri="{BB962C8B-B14F-4D97-AF65-F5344CB8AC3E}">
        <p14:creationId xmlns:p14="http://schemas.microsoft.com/office/powerpoint/2010/main" val="4040880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roduction bottom">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9CC542F-D03C-4537-9B6E-7F653B651524}"/>
              </a:ext>
            </a:extLst>
          </p:cNvPr>
          <p:cNvSpPr>
            <a:spLocks noGrp="1"/>
          </p:cNvSpPr>
          <p:nvPr>
            <p:ph type="title" hasCustomPrompt="1"/>
          </p:nvPr>
        </p:nvSpPr>
        <p:spPr>
          <a:xfrm>
            <a:off x="457200" y="2878091"/>
            <a:ext cx="3729789" cy="3440485"/>
          </a:xfrm>
        </p:spPr>
        <p:txBody>
          <a:bodyPr tIns="182880" bIns="182880" anchor="ctr" anchorCtr="0">
            <a:noAutofit/>
          </a:bodyPr>
          <a:lstStyle/>
          <a:p>
            <a:r>
              <a:rPr lang="en-US" dirty="0"/>
              <a:t>Click to add title</a:t>
            </a:r>
            <a:endParaRPr lang="en-US" dirty="0">
              <a:solidFill>
                <a:schemeClr val="tx2"/>
              </a:solidFill>
            </a:endParaRPr>
          </a:p>
        </p:txBody>
      </p:sp>
      <p:sp>
        <p:nvSpPr>
          <p:cNvPr id="3" name="Picture Placeholder 2">
            <a:extLst>
              <a:ext uri="{FF2B5EF4-FFF2-40B4-BE49-F238E27FC236}">
                <a16:creationId xmlns:a16="http://schemas.microsoft.com/office/drawing/2014/main" id="{130F1D2B-CBE7-6279-2158-7A9F3B5D5C61}"/>
              </a:ext>
            </a:extLst>
          </p:cNvPr>
          <p:cNvSpPr>
            <a:spLocks noGrp="1"/>
          </p:cNvSpPr>
          <p:nvPr>
            <p:ph type="pic" sz="quarter" idx="19" hasCustomPrompt="1"/>
          </p:nvPr>
        </p:nvSpPr>
        <p:spPr>
          <a:xfrm>
            <a:off x="457200" y="670560"/>
            <a:ext cx="11267440" cy="2139696"/>
          </a:xfrm>
          <a:custGeom>
            <a:avLst/>
            <a:gdLst>
              <a:gd name="connsiteX0" fmla="*/ 3783068 w 11267440"/>
              <a:gd name="connsiteY0" fmla="*/ 0 h 2139696"/>
              <a:gd name="connsiteX1" fmla="*/ 11267440 w 11267440"/>
              <a:gd name="connsiteY1" fmla="*/ 0 h 2139696"/>
              <a:gd name="connsiteX2" fmla="*/ 11267440 w 11267440"/>
              <a:gd name="connsiteY2" fmla="*/ 2139696 h 2139696"/>
              <a:gd name="connsiteX3" fmla="*/ 3783068 w 11267440"/>
              <a:gd name="connsiteY3" fmla="*/ 2139696 h 2139696"/>
              <a:gd name="connsiteX4" fmla="*/ 0 w 11267440"/>
              <a:gd name="connsiteY4" fmla="*/ 0 h 2139696"/>
              <a:gd name="connsiteX5" fmla="*/ 3677799 w 11267440"/>
              <a:gd name="connsiteY5" fmla="*/ 0 h 2139696"/>
              <a:gd name="connsiteX6" fmla="*/ 3677799 w 11267440"/>
              <a:gd name="connsiteY6" fmla="*/ 2139696 h 2139696"/>
              <a:gd name="connsiteX7" fmla="*/ 0 w 11267440"/>
              <a:gd name="connsiteY7" fmla="*/ 2139696 h 213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7440" h="2139696">
                <a:moveTo>
                  <a:pt x="3783068" y="0"/>
                </a:moveTo>
                <a:lnTo>
                  <a:pt x="11267440" y="0"/>
                </a:lnTo>
                <a:lnTo>
                  <a:pt x="11267440" y="2139696"/>
                </a:lnTo>
                <a:lnTo>
                  <a:pt x="3783068" y="2139696"/>
                </a:lnTo>
                <a:close/>
                <a:moveTo>
                  <a:pt x="0" y="0"/>
                </a:moveTo>
                <a:lnTo>
                  <a:pt x="3677799" y="0"/>
                </a:lnTo>
                <a:lnTo>
                  <a:pt x="3677799" y="2139696"/>
                </a:lnTo>
                <a:lnTo>
                  <a:pt x="0" y="213969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7" name="Content Placeholder 5">
            <a:extLst>
              <a:ext uri="{FF2B5EF4-FFF2-40B4-BE49-F238E27FC236}">
                <a16:creationId xmlns:a16="http://schemas.microsoft.com/office/drawing/2014/main" id="{135EE74D-5A60-B83C-5C2D-7B6FEA778FCB}"/>
              </a:ext>
            </a:extLst>
          </p:cNvPr>
          <p:cNvSpPr>
            <a:spLocks noGrp="1"/>
          </p:cNvSpPr>
          <p:nvPr>
            <p:ph sz="quarter" idx="4" hasCustomPrompt="1"/>
          </p:nvPr>
        </p:nvSpPr>
        <p:spPr>
          <a:xfrm>
            <a:off x="4305827" y="2878091"/>
            <a:ext cx="7418813" cy="3440485"/>
          </a:xfrm>
        </p:spPr>
        <p:txBody>
          <a:bodyPr anchor="ctr" anchorCtr="0">
            <a:normAutofit/>
          </a:bodyPr>
          <a:lstStyle>
            <a:lvl1pPr marL="283464" indent="-283464">
              <a:buFont typeface="Arial" panose="020B0604020202020204" pitchFamily="34" charset="0"/>
              <a:buChar char="•"/>
              <a:defRPr/>
            </a:lvl1pPr>
            <a:lvl2pPr marL="283464" indent="-283464">
              <a:buFont typeface="Arial" panose="020B0604020202020204" pitchFamily="34" charset="0"/>
              <a:buChar char="•"/>
              <a:defRPr/>
            </a:lvl2pPr>
            <a:lvl3pPr marL="283464" indent="-283464">
              <a:buFont typeface="Arial" panose="020B0604020202020204" pitchFamily="34" charset="0"/>
              <a:buChar char="•"/>
              <a:defRPr/>
            </a:lvl3pPr>
            <a:lvl4pPr marL="283464" indent="-283464">
              <a:buFont typeface="Arial" panose="020B0604020202020204" pitchFamily="34" charset="0"/>
              <a:buChar char="•"/>
              <a:defRPr/>
            </a:lvl4pPr>
            <a:lvl5pPr marL="283464" indent="-283464">
              <a:buFont typeface="Arial" panose="020B0604020202020204" pitchFamily="34" charset="0"/>
              <a:buChar char="•"/>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2BCF1FAD-0BAD-2574-3352-B152DF76C150}"/>
              </a:ext>
            </a:extLst>
          </p:cNvPr>
          <p:cNvSpPr>
            <a:spLocks noGrp="1"/>
          </p:cNvSpPr>
          <p:nvPr>
            <p:ph type="ftr" sz="quarter" idx="17"/>
          </p:nvPr>
        </p:nvSpPr>
        <p:spPr/>
        <p:txBody>
          <a:bodyPr/>
          <a:lstStyle/>
          <a:p>
            <a:endParaRPr lang="en-US" dirty="0"/>
          </a:p>
        </p:txBody>
      </p:sp>
      <p:sp>
        <p:nvSpPr>
          <p:cNvPr id="9" name="Date Placeholder 8">
            <a:extLst>
              <a:ext uri="{FF2B5EF4-FFF2-40B4-BE49-F238E27FC236}">
                <a16:creationId xmlns:a16="http://schemas.microsoft.com/office/drawing/2014/main" id="{EC328E41-645E-D257-FFF3-93344A8E4FA5}"/>
              </a:ext>
            </a:extLst>
          </p:cNvPr>
          <p:cNvSpPr>
            <a:spLocks noGrp="1"/>
          </p:cNvSpPr>
          <p:nvPr>
            <p:ph type="dt" sz="half" idx="16"/>
          </p:nvPr>
        </p:nvSpPr>
        <p:spPr/>
        <p:txBody>
          <a:bodyPr/>
          <a:lstStyle/>
          <a:p>
            <a:r>
              <a:rPr lang="en-US"/>
              <a:t>20XX</a:t>
            </a:r>
            <a:endParaRPr lang="en-US" dirty="0"/>
          </a:p>
        </p:txBody>
      </p:sp>
      <p:sp>
        <p:nvSpPr>
          <p:cNvPr id="14" name="Slide Number Placeholder 13">
            <a:extLst>
              <a:ext uri="{FF2B5EF4-FFF2-40B4-BE49-F238E27FC236}">
                <a16:creationId xmlns:a16="http://schemas.microsoft.com/office/drawing/2014/main" id="{DEF9E45A-6561-C074-14CE-B3B63476D221}"/>
              </a:ext>
            </a:extLst>
          </p:cNvPr>
          <p:cNvSpPr>
            <a:spLocks noGrp="1"/>
          </p:cNvSpPr>
          <p:nvPr>
            <p:ph type="sldNum" sz="quarter" idx="18"/>
          </p:nvPr>
        </p:nvSpPr>
        <p:spPr>
          <a:xfrm>
            <a:off x="10672130"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94703606"/>
      </p:ext>
    </p:extLst>
  </p:cSld>
  <p:clrMapOvr>
    <a:masterClrMapping/>
  </p:clrMapOvr>
  <p:extLst>
    <p:ext uri="{DCECCB84-F9BA-43D5-87BE-67443E8EF086}">
      <p15:sldGuideLst xmlns:p15="http://schemas.microsoft.com/office/powerpoint/2012/main">
        <p15:guide id="1" orient="horz">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524000" y="1143000"/>
            <a:ext cx="9144000" cy="2585720"/>
          </a:xfrm>
        </p:spPr>
        <p:txBody>
          <a:bodyPr anchor="b">
            <a:no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1524000" y="3799840"/>
            <a:ext cx="9144000" cy="2052320"/>
          </a:xfrm>
        </p:spPr>
        <p:txBody>
          <a:bodyPr anchor="t">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3641497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9" name="Content Placeholder 3">
            <a:extLst>
              <a:ext uri="{FF2B5EF4-FFF2-40B4-BE49-F238E27FC236}">
                <a16:creationId xmlns:a16="http://schemas.microsoft.com/office/drawing/2014/main" id="{ECA520B1-DC84-A47D-1F5E-CCD567EB2D86}"/>
              </a:ext>
            </a:extLst>
          </p:cNvPr>
          <p:cNvSpPr>
            <a:spLocks noGrp="1"/>
          </p:cNvSpPr>
          <p:nvPr>
            <p:ph sz="half" idx="13" hasCustomPrompt="1"/>
          </p:nvPr>
        </p:nvSpPr>
        <p:spPr>
          <a:xfrm>
            <a:off x="457200" y="2187362"/>
            <a:ext cx="3657600" cy="3633047"/>
          </a:xfrm>
        </p:spPr>
        <p:txBody>
          <a:bodyPr anchor="t">
            <a:normAutofit/>
          </a:bodyPr>
          <a:lstStyle>
            <a:lvl1pPr marL="34290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282437" y="2187361"/>
            <a:ext cx="744220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220879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 subtitle +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6108219" y="741363"/>
            <a:ext cx="5626579" cy="1286219"/>
          </a:xfrm>
        </p:spPr>
        <p:txBody>
          <a:bodyPr anchor="b">
            <a:noAutofit/>
          </a:bodyPr>
          <a:lstStyle>
            <a:lvl1pPr algn="l">
              <a:defRPr sz="2800"/>
            </a:lvl1pPr>
          </a:lstStyle>
          <a:p>
            <a:endParaRPr lang="en-US" dirty="0"/>
          </a:p>
        </p:txBody>
      </p:sp>
      <p:sp>
        <p:nvSpPr>
          <p:cNvPr id="8" name="Picture Placeholder 7">
            <a:extLst>
              <a:ext uri="{FF2B5EF4-FFF2-40B4-BE49-F238E27FC236}">
                <a16:creationId xmlns:a16="http://schemas.microsoft.com/office/drawing/2014/main" id="{FCBE840D-FAED-31D9-AF31-112670D0FA2E}"/>
              </a:ext>
            </a:extLst>
          </p:cNvPr>
          <p:cNvSpPr>
            <a:spLocks noGrp="1"/>
          </p:cNvSpPr>
          <p:nvPr>
            <p:ph type="pic" sz="quarter" idx="13"/>
          </p:nvPr>
        </p:nvSpPr>
        <p:spPr>
          <a:xfrm>
            <a:off x="457200" y="761684"/>
            <a:ext cx="5171440" cy="5662230"/>
          </a:xfrm>
          <a:custGeom>
            <a:avLst/>
            <a:gdLst>
              <a:gd name="connsiteX0" fmla="*/ 0 w 5171440"/>
              <a:gd name="connsiteY0" fmla="*/ 5056400 h 5662230"/>
              <a:gd name="connsiteX1" fmla="*/ 3685975 w 5171440"/>
              <a:gd name="connsiteY1" fmla="*/ 5056400 h 5662230"/>
              <a:gd name="connsiteX2" fmla="*/ 3685975 w 5171440"/>
              <a:gd name="connsiteY2" fmla="*/ 5662230 h 5662230"/>
              <a:gd name="connsiteX3" fmla="*/ 0 w 5171440"/>
              <a:gd name="connsiteY3" fmla="*/ 5662230 h 5662230"/>
              <a:gd name="connsiteX4" fmla="*/ 3789884 w 5171440"/>
              <a:gd name="connsiteY4" fmla="*/ 0 h 5662230"/>
              <a:gd name="connsiteX5" fmla="*/ 5171440 w 5171440"/>
              <a:gd name="connsiteY5" fmla="*/ 0 h 5662230"/>
              <a:gd name="connsiteX6" fmla="*/ 5171440 w 5171440"/>
              <a:gd name="connsiteY6" fmla="*/ 5662230 h 5662230"/>
              <a:gd name="connsiteX7" fmla="*/ 3789884 w 5171440"/>
              <a:gd name="connsiteY7" fmla="*/ 5662230 h 5662230"/>
              <a:gd name="connsiteX8" fmla="*/ 3789884 w 5171440"/>
              <a:gd name="connsiteY8" fmla="*/ 5056400 h 5662230"/>
              <a:gd name="connsiteX9" fmla="*/ 5168980 w 5171440"/>
              <a:gd name="connsiteY9" fmla="*/ 5056400 h 5662230"/>
              <a:gd name="connsiteX10" fmla="*/ 5168980 w 5171440"/>
              <a:gd name="connsiteY10" fmla="*/ 4956108 h 5662230"/>
              <a:gd name="connsiteX11" fmla="*/ 3789884 w 5171440"/>
              <a:gd name="connsiteY11" fmla="*/ 4956108 h 5662230"/>
              <a:gd name="connsiteX12" fmla="*/ 0 w 5171440"/>
              <a:gd name="connsiteY12" fmla="*/ 0 h 5662230"/>
              <a:gd name="connsiteX13" fmla="*/ 3685975 w 5171440"/>
              <a:gd name="connsiteY13" fmla="*/ 0 h 5662230"/>
              <a:gd name="connsiteX14" fmla="*/ 3685975 w 5171440"/>
              <a:gd name="connsiteY14" fmla="*/ 4956108 h 5662230"/>
              <a:gd name="connsiteX15" fmla="*/ 0 w 5171440"/>
              <a:gd name="connsiteY15" fmla="*/ 4956108 h 566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71440" h="5662230">
                <a:moveTo>
                  <a:pt x="0" y="5056400"/>
                </a:moveTo>
                <a:lnTo>
                  <a:pt x="3685975" y="5056400"/>
                </a:lnTo>
                <a:lnTo>
                  <a:pt x="3685975" y="5662230"/>
                </a:lnTo>
                <a:lnTo>
                  <a:pt x="0" y="5662230"/>
                </a:lnTo>
                <a:close/>
                <a:moveTo>
                  <a:pt x="3789884" y="0"/>
                </a:moveTo>
                <a:lnTo>
                  <a:pt x="5171440" y="0"/>
                </a:lnTo>
                <a:lnTo>
                  <a:pt x="5171440" y="5662230"/>
                </a:lnTo>
                <a:lnTo>
                  <a:pt x="3789884" y="5662230"/>
                </a:lnTo>
                <a:lnTo>
                  <a:pt x="3789884" y="5056400"/>
                </a:lnTo>
                <a:lnTo>
                  <a:pt x="5168980" y="5056400"/>
                </a:lnTo>
                <a:lnTo>
                  <a:pt x="5168980" y="4956108"/>
                </a:lnTo>
                <a:lnTo>
                  <a:pt x="3789884" y="4956108"/>
                </a:lnTo>
                <a:close/>
                <a:moveTo>
                  <a:pt x="0" y="0"/>
                </a:moveTo>
                <a:lnTo>
                  <a:pt x="3685975" y="0"/>
                </a:lnTo>
                <a:lnTo>
                  <a:pt x="3685975" y="4956108"/>
                </a:lnTo>
                <a:lnTo>
                  <a:pt x="0" y="4956108"/>
                </a:lnTo>
                <a:close/>
              </a:path>
            </a:pathLst>
          </a:custGeom>
          <a:solidFill>
            <a:schemeClr val="accent2"/>
          </a:solidFill>
        </p:spPr>
        <p:txBody>
          <a:bodyPr wrap="square">
            <a:noAutofit/>
          </a:bodyPr>
          <a:lstStyle/>
          <a:p>
            <a:endParaRPr lang="en-US" dirty="0"/>
          </a:p>
        </p:txBody>
      </p:sp>
      <p:sp>
        <p:nvSpPr>
          <p:cNvPr id="10" name="Content Placeholder 2">
            <a:extLst>
              <a:ext uri="{FF2B5EF4-FFF2-40B4-BE49-F238E27FC236}">
                <a16:creationId xmlns:a16="http://schemas.microsoft.com/office/drawing/2014/main" id="{1E22983C-26B8-DE15-E309-D0E93B8C6996}"/>
              </a:ext>
            </a:extLst>
          </p:cNvPr>
          <p:cNvSpPr>
            <a:spLocks noGrp="1"/>
          </p:cNvSpPr>
          <p:nvPr>
            <p:ph idx="1" hasCustomPrompt="1"/>
          </p:nvPr>
        </p:nvSpPr>
        <p:spPr>
          <a:xfrm>
            <a:off x="6106160" y="2235200"/>
            <a:ext cx="5628639" cy="4188713"/>
          </a:xfrm>
        </p:spPr>
        <p:txBody>
          <a:bodyPr anchor="t" anchorCtr="0">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682289"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939251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447040" y="725444"/>
            <a:ext cx="11277600" cy="1044253"/>
          </a:xfrm>
        </p:spPr>
        <p:txBody>
          <a:bodyPr anchor="b" anchorCtr="0">
            <a:noAutofit/>
          </a:bodyPr>
          <a:lstStyle/>
          <a:p>
            <a:r>
              <a:rPr lang="en-US" dirty="0"/>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457200" y="2245360"/>
            <a:ext cx="3342640" cy="3992880"/>
          </a:xfrm>
        </p:spPr>
        <p:txBody>
          <a:bodyPr anchor="t"/>
          <a:lstStyle>
            <a:lvl1pPr marL="0" indent="0">
              <a:buNone/>
              <a:defRPr/>
            </a:lvl1pPr>
            <a:lvl2pPr marL="324000" indent="0">
              <a:buNone/>
              <a:defRPr/>
            </a:lvl2pPr>
            <a:lvl3pPr marL="630000" indent="0">
              <a:buNone/>
              <a:defRPr/>
            </a:lvl3pPr>
            <a:lvl4pPr marL="1008000" indent="0">
              <a:buNone/>
              <a:defRPr/>
            </a:lvl4pPr>
            <a:lvl5pPr marL="13680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236720" y="2236109"/>
            <a:ext cx="7498080" cy="4002131"/>
          </a:xfrm>
        </p:spPr>
        <p:txBody>
          <a:bodyPr/>
          <a:lstStyle/>
          <a:p>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a:xfrm>
            <a:off x="10682290"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07618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4" name="Content Placeholder 3"/>
          <p:cNvSpPr>
            <a:spLocks noGrp="1"/>
          </p:cNvSpPr>
          <p:nvPr>
            <p:ph sz="half" idx="2" hasCustomPrompt="1"/>
          </p:nvPr>
        </p:nvSpPr>
        <p:spPr>
          <a:xfrm>
            <a:off x="457200" y="2318490"/>
            <a:ext cx="737108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8E6EDC6B-B9AA-A4D9-A782-C38A0F84F63F}"/>
              </a:ext>
            </a:extLst>
          </p:cNvPr>
          <p:cNvSpPr>
            <a:spLocks noGrp="1"/>
          </p:cNvSpPr>
          <p:nvPr>
            <p:ph sz="half" idx="13" hasCustomPrompt="1"/>
          </p:nvPr>
        </p:nvSpPr>
        <p:spPr>
          <a:xfrm>
            <a:off x="7993378" y="2318490"/>
            <a:ext cx="3731262" cy="3633047"/>
          </a:xfrm>
        </p:spPr>
        <p:txBody>
          <a:bodyPr anchor="t">
            <a:normAutofit/>
          </a:bodyPr>
          <a:lstStyle>
            <a:lvl1pPr marL="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780133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457199" y="705124"/>
            <a:ext cx="11272649" cy="1062716"/>
          </a:xfrm>
        </p:spPr>
        <p:txBody>
          <a:bodyPr anchor="b" anchorCtr="0">
            <a:noAutofit/>
          </a:bodyPr>
          <a:lstStyle/>
          <a:p>
            <a:r>
              <a:rPr lang="en-US" dirty="0"/>
              <a:t>Click to edit Master title style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457201" y="2234979"/>
            <a:ext cx="11272648" cy="3969606"/>
          </a:xfrm>
        </p:spPr>
        <p:txBody>
          <a:bodyPr/>
          <a:lstStyle/>
          <a:p>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10558300" y="6423914"/>
            <a:ext cx="1171548"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702289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0F196A1-2430-4797-B656-A38302FAFF33}"/>
              </a:ext>
            </a:extLst>
          </p:cNvPr>
          <p:cNvSpPr>
            <a:spLocks noGrp="1"/>
          </p:cNvSpPr>
          <p:nvPr>
            <p:ph type="title"/>
          </p:nvPr>
        </p:nvSpPr>
        <p:spPr>
          <a:xfrm>
            <a:off x="462151" y="666984"/>
            <a:ext cx="3672970" cy="2125911"/>
          </a:xfrm>
        </p:spPr>
        <p:txBody>
          <a:bodyPr>
            <a:noAutofit/>
          </a:bodyPr>
          <a:lstStyle>
            <a:lvl1pPr algn="l">
              <a:defRPr/>
            </a:lvl1pPr>
          </a:lstStyle>
          <a:p>
            <a:endParaRPr lang="en-US" noProof="0" dirty="0"/>
          </a:p>
        </p:txBody>
      </p:sp>
      <p:sp>
        <p:nvSpPr>
          <p:cNvPr id="2" name="Content Placeholder 5">
            <a:extLst>
              <a:ext uri="{FF2B5EF4-FFF2-40B4-BE49-F238E27FC236}">
                <a16:creationId xmlns:a16="http://schemas.microsoft.com/office/drawing/2014/main" id="{5A0AD703-0A43-5323-CCB2-832D424EF2DB}"/>
              </a:ext>
            </a:extLst>
          </p:cNvPr>
          <p:cNvSpPr>
            <a:spLocks noGrp="1"/>
          </p:cNvSpPr>
          <p:nvPr>
            <p:ph sz="quarter" idx="4" hasCustomPrompt="1"/>
          </p:nvPr>
        </p:nvSpPr>
        <p:spPr>
          <a:xfrm>
            <a:off x="462151" y="2862479"/>
            <a:ext cx="3672970" cy="3491849"/>
          </a:xfrm>
        </p:spPr>
        <p:txBody>
          <a:bodyPr anchor="t" anchorCtr="0">
            <a:normAutofit/>
          </a:bodyPr>
          <a:lstStyle>
            <a:lvl1pPr marL="0" indent="0">
              <a:buNone/>
              <a:defRPr/>
            </a:lvl1pPr>
          </a:lstStyle>
          <a:p>
            <a:pPr lvl="0"/>
            <a:r>
              <a:rPr lang="en-US" noProof="0" dirty="0"/>
              <a:t>Click to add text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Picture Placeholder 3">
            <a:extLst>
              <a:ext uri="{FF2B5EF4-FFF2-40B4-BE49-F238E27FC236}">
                <a16:creationId xmlns:a16="http://schemas.microsoft.com/office/drawing/2014/main" id="{4627B629-9CBE-3ECF-2D88-F07AACD0374E}"/>
              </a:ext>
            </a:extLst>
          </p:cNvPr>
          <p:cNvSpPr>
            <a:spLocks noGrp="1"/>
          </p:cNvSpPr>
          <p:nvPr>
            <p:ph type="pic" sz="quarter" idx="13" hasCustomPrompt="1"/>
          </p:nvPr>
        </p:nvSpPr>
        <p:spPr>
          <a:xfrm>
            <a:off x="4231970" y="666985"/>
            <a:ext cx="7497880" cy="5687344"/>
          </a:xfrm>
          <a:custGeom>
            <a:avLst/>
            <a:gdLst>
              <a:gd name="connsiteX0" fmla="*/ 3803282 w 7497880"/>
              <a:gd name="connsiteY0" fmla="*/ 0 h 5687344"/>
              <a:gd name="connsiteX1" fmla="*/ 7497880 w 7497880"/>
              <a:gd name="connsiteY1" fmla="*/ 0 h 5687344"/>
              <a:gd name="connsiteX2" fmla="*/ 7497880 w 7497880"/>
              <a:gd name="connsiteY2" fmla="*/ 4581885 h 5687344"/>
              <a:gd name="connsiteX3" fmla="*/ 3803282 w 7497880"/>
              <a:gd name="connsiteY3" fmla="*/ 4581885 h 5687344"/>
              <a:gd name="connsiteX4" fmla="*/ 0 w 7497880"/>
              <a:gd name="connsiteY4" fmla="*/ 0 h 5687344"/>
              <a:gd name="connsiteX5" fmla="*/ 3699373 w 7497880"/>
              <a:gd name="connsiteY5" fmla="*/ 0 h 5687344"/>
              <a:gd name="connsiteX6" fmla="*/ 3699373 w 7497880"/>
              <a:gd name="connsiteY6" fmla="*/ 4581885 h 5687344"/>
              <a:gd name="connsiteX7" fmla="*/ 2 w 7497880"/>
              <a:gd name="connsiteY7" fmla="*/ 4581885 h 5687344"/>
              <a:gd name="connsiteX8" fmla="*/ 2 w 7497880"/>
              <a:gd name="connsiteY8" fmla="*/ 4679200 h 5687344"/>
              <a:gd name="connsiteX9" fmla="*/ 3699373 w 7497880"/>
              <a:gd name="connsiteY9" fmla="*/ 4679200 h 5687344"/>
              <a:gd name="connsiteX10" fmla="*/ 3699373 w 7497880"/>
              <a:gd name="connsiteY10" fmla="*/ 5679350 h 5687344"/>
              <a:gd name="connsiteX11" fmla="*/ 3803282 w 7497880"/>
              <a:gd name="connsiteY11" fmla="*/ 5679350 h 5687344"/>
              <a:gd name="connsiteX12" fmla="*/ 3803282 w 7497880"/>
              <a:gd name="connsiteY12" fmla="*/ 4679200 h 5687344"/>
              <a:gd name="connsiteX13" fmla="*/ 7497880 w 7497880"/>
              <a:gd name="connsiteY13" fmla="*/ 4679200 h 5687344"/>
              <a:gd name="connsiteX14" fmla="*/ 7497880 w 7497880"/>
              <a:gd name="connsiteY14" fmla="*/ 5687344 h 5687344"/>
              <a:gd name="connsiteX15" fmla="*/ 0 w 7497880"/>
              <a:gd name="connsiteY15" fmla="*/ 5687344 h 568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497880" h="5687344">
                <a:moveTo>
                  <a:pt x="3803282" y="0"/>
                </a:moveTo>
                <a:lnTo>
                  <a:pt x="7497880" y="0"/>
                </a:lnTo>
                <a:lnTo>
                  <a:pt x="7497880" y="4581885"/>
                </a:lnTo>
                <a:lnTo>
                  <a:pt x="3803282" y="4581885"/>
                </a:lnTo>
                <a:close/>
                <a:moveTo>
                  <a:pt x="0" y="0"/>
                </a:moveTo>
                <a:lnTo>
                  <a:pt x="3699373" y="0"/>
                </a:lnTo>
                <a:lnTo>
                  <a:pt x="3699373" y="4581885"/>
                </a:lnTo>
                <a:lnTo>
                  <a:pt x="2" y="4581885"/>
                </a:lnTo>
                <a:lnTo>
                  <a:pt x="2" y="4679200"/>
                </a:lnTo>
                <a:lnTo>
                  <a:pt x="3699373" y="4679200"/>
                </a:lnTo>
                <a:lnTo>
                  <a:pt x="3699373" y="5679350"/>
                </a:lnTo>
                <a:lnTo>
                  <a:pt x="3803282" y="5679350"/>
                </a:lnTo>
                <a:lnTo>
                  <a:pt x="3803282" y="4679200"/>
                </a:lnTo>
                <a:lnTo>
                  <a:pt x="7497880" y="4679200"/>
                </a:lnTo>
                <a:lnTo>
                  <a:pt x="7497880" y="5687344"/>
                </a:lnTo>
                <a:lnTo>
                  <a:pt x="0" y="5687344"/>
                </a:lnTo>
                <a:close/>
              </a:path>
            </a:pathLst>
          </a:custGeom>
          <a:solidFill>
            <a:schemeClr val="accent2"/>
          </a:solidFill>
        </p:spPr>
        <p:txBody>
          <a:bodyPr wrap="square" anchor="t">
            <a:noAutofit/>
          </a:bodyPr>
          <a:lstStyle>
            <a:lvl1pPr marL="0" indent="0" algn="ctr">
              <a:buNone/>
              <a:defRPr/>
            </a:lvl1pPr>
          </a:lstStyle>
          <a:p>
            <a:r>
              <a:rPr lang="en-US" noProof="0" dirty="0"/>
              <a:t>Click to add picture</a:t>
            </a:r>
          </a:p>
        </p:txBody>
      </p:sp>
      <p:sp>
        <p:nvSpPr>
          <p:cNvPr id="6" name="Date Placeholder 5">
            <a:extLst>
              <a:ext uri="{FF2B5EF4-FFF2-40B4-BE49-F238E27FC236}">
                <a16:creationId xmlns:a16="http://schemas.microsoft.com/office/drawing/2014/main" id="{90DD7D93-4C4D-E385-9F8C-40536F0BDEA2}"/>
              </a:ext>
            </a:extLst>
          </p:cNvPr>
          <p:cNvSpPr>
            <a:spLocks noGrp="1"/>
          </p:cNvSpPr>
          <p:nvPr>
            <p:ph type="dt" sz="half" idx="14"/>
          </p:nvPr>
        </p:nvSpPr>
        <p:spPr/>
        <p:txBody>
          <a:bodyPr/>
          <a:lstStyle/>
          <a:p>
            <a:r>
              <a:rPr lang="en-US" noProof="0"/>
              <a:t>20XX</a:t>
            </a:r>
            <a:endParaRPr lang="en-US" noProof="0" dirty="0"/>
          </a:p>
        </p:txBody>
      </p:sp>
      <p:sp>
        <p:nvSpPr>
          <p:cNvPr id="7" name="Footer Placeholder 6">
            <a:extLst>
              <a:ext uri="{FF2B5EF4-FFF2-40B4-BE49-F238E27FC236}">
                <a16:creationId xmlns:a16="http://schemas.microsoft.com/office/drawing/2014/main" id="{BC99FA72-244D-9DC3-C9B7-E7DAD50A01F7}"/>
              </a:ext>
            </a:extLst>
          </p:cNvPr>
          <p:cNvSpPr>
            <a:spLocks noGrp="1"/>
          </p:cNvSpPr>
          <p:nvPr>
            <p:ph type="ftr" sz="quarter" idx="15"/>
          </p:nvPr>
        </p:nvSpPr>
        <p:spPr/>
        <p:txBody>
          <a:bodyPr/>
          <a:lstStyle/>
          <a:p>
            <a:endParaRPr lang="en-US" noProof="0" dirty="0"/>
          </a:p>
        </p:txBody>
      </p:sp>
      <p:sp>
        <p:nvSpPr>
          <p:cNvPr id="8" name="Slide Number Placeholder 7">
            <a:extLst>
              <a:ext uri="{FF2B5EF4-FFF2-40B4-BE49-F238E27FC236}">
                <a16:creationId xmlns:a16="http://schemas.microsoft.com/office/drawing/2014/main" id="{725A4F6F-66FD-CDA5-7F8F-F5FD6382CFCF}"/>
              </a:ext>
            </a:extLst>
          </p:cNvPr>
          <p:cNvSpPr>
            <a:spLocks noGrp="1"/>
          </p:cNvSpPr>
          <p:nvPr>
            <p:ph type="sldNum" sz="quarter" idx="16"/>
          </p:nvPr>
        </p:nvSpPr>
        <p:spPr>
          <a:xfrm>
            <a:off x="10677340" y="6423914"/>
            <a:ext cx="1052510" cy="365125"/>
          </a:xfrm>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3356847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7" name="Group 6">
            <a:extLst>
              <a:ext uri="{FF2B5EF4-FFF2-40B4-BE49-F238E27FC236}">
                <a16:creationId xmlns:a16="http://schemas.microsoft.com/office/drawing/2014/main" id="{0B1561DF-26A0-6739-95BB-64CDC4C2C6C7}"/>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053579F-32D7-9FD1-DC84-FA7E491BF51E}"/>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DA544AA-CD43-1627-B3BA-3D86AE3F66BA}"/>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8B9861A-053E-6F37-B96F-66C27B486406}"/>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41671247"/>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 id="2147483819" r:id="rId20"/>
    <p:sldLayoutId id="2147483820" r:id="rId21"/>
    <p:sldLayoutId id="2147483821" r:id="rId22"/>
    <p:sldLayoutId id="2147483822" r:id="rId23"/>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a:xfrm>
            <a:off x="451598" y="768342"/>
            <a:ext cx="11271009" cy="670381"/>
          </a:xfrm>
        </p:spPr>
        <p:txBody>
          <a:bodyPr/>
          <a:lstStyle/>
          <a:p>
            <a:r>
              <a:rPr lang="en-US" sz="4000" b="1" dirty="0"/>
              <a:t>Heart </a:t>
            </a:r>
            <a:r>
              <a:rPr lang="en-US" sz="4000" b="1"/>
              <a:t>disease prediction</a:t>
            </a:r>
            <a:endParaRPr lang="en-US" sz="4000" b="1" dirty="0"/>
          </a:p>
        </p:txBody>
      </p:sp>
      <p:pic>
        <p:nvPicPr>
          <p:cNvPr id="10" name="Picture Placeholder 9" descr="A stethoscope on a clipboard">
            <a:extLst>
              <a:ext uri="{FF2B5EF4-FFF2-40B4-BE49-F238E27FC236}">
                <a16:creationId xmlns:a16="http://schemas.microsoft.com/office/drawing/2014/main" id="{CC4B82FA-2EA0-5319-6B9C-8D78349FCB09}"/>
              </a:ext>
            </a:extLst>
          </p:cNvPr>
          <p:cNvPicPr>
            <a:picLocks noGrp="1" noChangeAspect="1"/>
          </p:cNvPicPr>
          <p:nvPr>
            <p:ph type="pic" sz="quarter" idx="13"/>
          </p:nvPr>
        </p:nvPicPr>
        <p:blipFill rotWithShape="1">
          <a:blip r:embed="rId3"/>
          <a:srcRect t="28164" b="28164"/>
          <a:stretch/>
        </p:blipFill>
        <p:spPr>
          <a:xfrm>
            <a:off x="448055" y="1568478"/>
            <a:ext cx="11274551" cy="3814647"/>
          </a:xfrm>
        </p:spPr>
      </p:pic>
      <p:sp>
        <p:nvSpPr>
          <p:cNvPr id="5" name="TextBox 4">
            <a:extLst>
              <a:ext uri="{FF2B5EF4-FFF2-40B4-BE49-F238E27FC236}">
                <a16:creationId xmlns:a16="http://schemas.microsoft.com/office/drawing/2014/main" id="{398DCC85-F08D-DD3D-F8AF-98D1F615F035}"/>
              </a:ext>
            </a:extLst>
          </p:cNvPr>
          <p:cNvSpPr txBox="1"/>
          <p:nvPr/>
        </p:nvSpPr>
        <p:spPr>
          <a:xfrm>
            <a:off x="448235" y="5490882"/>
            <a:ext cx="605117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Presented By</a:t>
            </a:r>
            <a:r>
              <a:rPr lang="en-US"/>
              <a:t> :- </a:t>
            </a:r>
            <a:r>
              <a:rPr lang="en-US" sz="2200"/>
              <a:t>SOUJANYA PROKASH SINGHA</a:t>
            </a:r>
            <a:endParaRPr lang="en-US" sz="2200" dirty="0"/>
          </a:p>
          <a:p>
            <a:r>
              <a:rPr lang="en-US" sz="2400"/>
              <a:t>Enrollment ID</a:t>
            </a:r>
            <a:r>
              <a:rPr lang="en-US"/>
              <a:t> :- </a:t>
            </a:r>
            <a:r>
              <a:rPr lang="en-US" sz="2200">
                <a:solidFill>
                  <a:schemeClr val="tx1">
                    <a:lumMod val="85000"/>
                    <a:lumOff val="15000"/>
                  </a:schemeClr>
                </a:solidFill>
                <a:highlight>
                  <a:srgbClr val="FFFFFF"/>
                </a:highlight>
                <a:latin typeface="Gill Sans MT"/>
                <a:cs typeface="Arial"/>
              </a:rPr>
              <a:t>ER924985092025781</a:t>
            </a:r>
            <a:endParaRPr lang="en-US" sz="2200">
              <a:solidFill>
                <a:schemeClr val="tx1">
                  <a:lumMod val="85000"/>
                  <a:lumOff val="15000"/>
                </a:schemeClr>
              </a:solidFill>
              <a:latin typeface="Gill Sans MT"/>
            </a:endParaRPr>
          </a:p>
        </p:txBody>
      </p:sp>
    </p:spTree>
    <p:extLst>
      <p:ext uri="{BB962C8B-B14F-4D97-AF65-F5344CB8AC3E}">
        <p14:creationId xmlns:p14="http://schemas.microsoft.com/office/powerpoint/2010/main" val="103975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B23E1E4-7CB2-923B-9D41-672CB85E05DA}"/>
              </a:ext>
            </a:extLst>
          </p:cNvPr>
          <p:cNvSpPr>
            <a:spLocks noGrp="1"/>
          </p:cNvSpPr>
          <p:nvPr>
            <p:ph type="title"/>
          </p:nvPr>
        </p:nvSpPr>
        <p:spPr>
          <a:xfrm>
            <a:off x="457200" y="640079"/>
            <a:ext cx="3657600" cy="576852"/>
          </a:xfrm>
        </p:spPr>
        <p:txBody>
          <a:bodyPr/>
          <a:lstStyle/>
          <a:p>
            <a:r>
              <a:rPr lang="en-US" dirty="0"/>
              <a:t>Agenda	</a:t>
            </a:r>
          </a:p>
        </p:txBody>
      </p:sp>
      <p:sp>
        <p:nvSpPr>
          <p:cNvPr id="8" name="Content Placeholder 7">
            <a:extLst>
              <a:ext uri="{FF2B5EF4-FFF2-40B4-BE49-F238E27FC236}">
                <a16:creationId xmlns:a16="http://schemas.microsoft.com/office/drawing/2014/main" id="{1A667A9A-3428-68BE-D555-0DE1859FDF8A}"/>
              </a:ext>
            </a:extLst>
          </p:cNvPr>
          <p:cNvSpPr>
            <a:spLocks noGrp="1"/>
          </p:cNvSpPr>
          <p:nvPr>
            <p:ph sz="quarter" idx="4"/>
          </p:nvPr>
        </p:nvSpPr>
        <p:spPr>
          <a:xfrm>
            <a:off x="457201" y="1439323"/>
            <a:ext cx="3657600" cy="4950852"/>
          </a:xfrm>
        </p:spPr>
        <p:txBody>
          <a:bodyPr>
            <a:normAutofit lnSpcReduction="10000"/>
          </a:bodyPr>
          <a:lstStyle/>
          <a:p>
            <a:pPr marL="342900" indent="-342900">
              <a:buAutoNum type="arabicParenR"/>
            </a:pPr>
            <a:r>
              <a:rPr lang="en-US">
                <a:solidFill>
                  <a:schemeClr val="tx1">
                    <a:lumMod val="76000"/>
                    <a:lumOff val="24000"/>
                  </a:schemeClr>
                </a:solidFill>
              </a:rPr>
              <a:t>Project Overview</a:t>
            </a:r>
          </a:p>
          <a:p>
            <a:pPr marL="342900" indent="-342900">
              <a:buAutoNum type="arabicParenR"/>
            </a:pPr>
            <a:r>
              <a:rPr lang="en-US">
                <a:solidFill>
                  <a:schemeClr val="tx1">
                    <a:lumMod val="76000"/>
                    <a:lumOff val="24000"/>
                  </a:schemeClr>
                </a:solidFill>
              </a:rPr>
              <a:t>Business Problem</a:t>
            </a:r>
          </a:p>
          <a:p>
            <a:pPr marL="342900" indent="-342900">
              <a:buAutoNum type="arabicParenR"/>
            </a:pPr>
            <a:r>
              <a:rPr lang="en-US" dirty="0">
                <a:solidFill>
                  <a:schemeClr val="tx1">
                    <a:lumMod val="76000"/>
                    <a:lumOff val="24000"/>
                  </a:schemeClr>
                </a:solidFill>
              </a:rPr>
              <a:t>Dataset </a:t>
            </a:r>
            <a:r>
              <a:rPr lang="en-US">
                <a:solidFill>
                  <a:schemeClr val="tx1">
                    <a:lumMod val="76000"/>
                    <a:lumOff val="24000"/>
                  </a:schemeClr>
                </a:solidFill>
              </a:rPr>
              <a:t>Overview</a:t>
            </a:r>
            <a:endParaRPr lang="en-US" dirty="0">
              <a:solidFill>
                <a:schemeClr val="tx1">
                  <a:lumMod val="76000"/>
                  <a:lumOff val="24000"/>
                </a:schemeClr>
              </a:solidFill>
            </a:endParaRPr>
          </a:p>
          <a:p>
            <a:pPr marL="342900" indent="-342900">
              <a:buAutoNum type="arabicParenR"/>
            </a:pPr>
            <a:r>
              <a:rPr lang="en-US">
                <a:solidFill>
                  <a:schemeClr val="tx1">
                    <a:lumMod val="76000"/>
                    <a:lumOff val="24000"/>
                  </a:schemeClr>
                </a:solidFill>
              </a:rPr>
              <a:t>EDA</a:t>
            </a:r>
          </a:p>
          <a:p>
            <a:pPr marL="342900" indent="-342900">
              <a:buAutoNum type="arabicParenR"/>
            </a:pPr>
            <a:r>
              <a:rPr lang="en-US">
                <a:solidFill>
                  <a:schemeClr val="tx1">
                    <a:lumMod val="76000"/>
                    <a:lumOff val="24000"/>
                  </a:schemeClr>
                </a:solidFill>
              </a:rPr>
              <a:t>Data Preprocessing</a:t>
            </a:r>
            <a:endParaRPr lang="en-US" dirty="0">
              <a:solidFill>
                <a:schemeClr val="tx1">
                  <a:lumMod val="76000"/>
                  <a:lumOff val="24000"/>
                </a:schemeClr>
              </a:solidFill>
            </a:endParaRPr>
          </a:p>
          <a:p>
            <a:pPr marL="342900" indent="-342900">
              <a:buAutoNum type="arabicParenR"/>
            </a:pPr>
            <a:r>
              <a:rPr lang="en-US">
                <a:solidFill>
                  <a:schemeClr val="tx1">
                    <a:lumMod val="76000"/>
                    <a:lumOff val="24000"/>
                  </a:schemeClr>
                </a:solidFill>
              </a:rPr>
              <a:t>Model Building</a:t>
            </a:r>
            <a:endParaRPr lang="en-US" dirty="0">
              <a:solidFill>
                <a:schemeClr val="tx1">
                  <a:lumMod val="76000"/>
                  <a:lumOff val="24000"/>
                </a:schemeClr>
              </a:solidFill>
            </a:endParaRPr>
          </a:p>
          <a:p>
            <a:pPr marL="342900" indent="-342900">
              <a:buAutoNum type="arabicParenR"/>
            </a:pPr>
            <a:r>
              <a:rPr lang="en-US">
                <a:solidFill>
                  <a:schemeClr val="tx1">
                    <a:lumMod val="76000"/>
                    <a:lumOff val="24000"/>
                  </a:schemeClr>
                </a:solidFill>
              </a:rPr>
              <a:t>Model Evaluation and Model Selection</a:t>
            </a:r>
          </a:p>
          <a:p>
            <a:pPr marL="342900" indent="-342900">
              <a:buAutoNum type="arabicParenR"/>
            </a:pPr>
            <a:r>
              <a:rPr lang="en-US">
                <a:solidFill>
                  <a:schemeClr val="tx1">
                    <a:lumMod val="76000"/>
                    <a:lumOff val="24000"/>
                  </a:schemeClr>
                </a:solidFill>
              </a:rPr>
              <a:t>Model Saving</a:t>
            </a:r>
          </a:p>
          <a:p>
            <a:pPr marL="342900" indent="-342900">
              <a:buAutoNum type="arabicParenR"/>
            </a:pPr>
            <a:r>
              <a:rPr lang="en-US">
                <a:solidFill>
                  <a:schemeClr val="tx1">
                    <a:lumMod val="76000"/>
                    <a:lumOff val="24000"/>
                  </a:schemeClr>
                </a:solidFill>
              </a:rPr>
              <a:t>Building the Web Application</a:t>
            </a:r>
            <a:endParaRPr lang="en-US" dirty="0">
              <a:solidFill>
                <a:schemeClr val="tx1">
                  <a:lumMod val="76000"/>
                  <a:lumOff val="24000"/>
                </a:schemeClr>
              </a:solidFill>
            </a:endParaRPr>
          </a:p>
          <a:p>
            <a:pPr marL="342900" indent="-342900">
              <a:buAutoNum type="arabicParenR"/>
            </a:pPr>
            <a:r>
              <a:rPr lang="en-US">
                <a:solidFill>
                  <a:schemeClr val="tx1">
                    <a:lumMod val="76000"/>
                    <a:lumOff val="24000"/>
                  </a:schemeClr>
                </a:solidFill>
              </a:rPr>
              <a:t>Web Application Demo</a:t>
            </a:r>
            <a:endParaRPr lang="en-US" dirty="0">
              <a:solidFill>
                <a:schemeClr val="tx1">
                  <a:lumMod val="76000"/>
                  <a:lumOff val="24000"/>
                </a:schemeClr>
              </a:solidFill>
            </a:endParaRPr>
          </a:p>
          <a:p>
            <a:pPr marL="342900" indent="-342900">
              <a:buAutoNum type="arabicParenR"/>
            </a:pPr>
            <a:r>
              <a:rPr lang="en-US">
                <a:solidFill>
                  <a:schemeClr val="tx1">
                    <a:lumMod val="76000"/>
                    <a:lumOff val="24000"/>
                  </a:schemeClr>
                </a:solidFill>
              </a:rPr>
              <a:t>Conclusion</a:t>
            </a:r>
          </a:p>
          <a:p>
            <a:pPr marL="342900" indent="-342900">
              <a:buAutoNum type="arabicParenR"/>
            </a:pPr>
            <a:r>
              <a:rPr lang="en-US">
                <a:solidFill>
                  <a:schemeClr val="tx1">
                    <a:lumMod val="76000"/>
                    <a:lumOff val="24000"/>
                  </a:schemeClr>
                </a:solidFill>
              </a:rPr>
              <a:t>Future Improvements</a:t>
            </a:r>
            <a:endParaRPr lang="en-US" dirty="0">
              <a:solidFill>
                <a:schemeClr val="tx1">
                  <a:lumMod val="76000"/>
                  <a:lumOff val="24000"/>
                </a:schemeClr>
              </a:solidFill>
            </a:endParaRPr>
          </a:p>
        </p:txBody>
      </p:sp>
      <p:pic>
        <p:nvPicPr>
          <p:cNvPr id="34" name="Picture Placeholder 21" descr="A close-up of a stethoscope">
            <a:extLst>
              <a:ext uri="{FF2B5EF4-FFF2-40B4-BE49-F238E27FC236}">
                <a16:creationId xmlns:a16="http://schemas.microsoft.com/office/drawing/2014/main" id="{63F55FD3-B051-BD22-347E-065B72C87E1C}"/>
              </a:ext>
            </a:extLst>
          </p:cNvPr>
          <p:cNvPicPr>
            <a:picLocks noGrp="1" noChangeAspect="1"/>
          </p:cNvPicPr>
          <p:nvPr>
            <p:ph type="pic" sz="quarter" idx="13"/>
          </p:nvPr>
        </p:nvPicPr>
        <p:blipFill>
          <a:blip r:embed="rId3"/>
          <a:srcRect l="148" r="148"/>
          <a:stretch/>
        </p:blipFill>
        <p:spPr/>
      </p:pic>
    </p:spTree>
    <p:extLst>
      <p:ext uri="{BB962C8B-B14F-4D97-AF65-F5344CB8AC3E}">
        <p14:creationId xmlns:p14="http://schemas.microsoft.com/office/powerpoint/2010/main" val="220112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68E91FE-1E96-9012-B0A7-9E9605A1D060}"/>
              </a:ext>
            </a:extLst>
          </p:cNvPr>
          <p:cNvSpPr>
            <a:spLocks noGrp="1"/>
          </p:cNvSpPr>
          <p:nvPr>
            <p:ph type="ctrTitle"/>
          </p:nvPr>
        </p:nvSpPr>
        <p:spPr>
          <a:xfrm>
            <a:off x="449580" y="4423702"/>
            <a:ext cx="11292839" cy="497026"/>
          </a:xfrm>
        </p:spPr>
        <p:txBody>
          <a:bodyPr>
            <a:normAutofit fontScale="90000"/>
          </a:bodyPr>
          <a:lstStyle/>
          <a:p>
            <a:r>
              <a:rPr lang="en-US" b="1">
                <a:solidFill>
                  <a:schemeClr val="accent5">
                    <a:lumMod val="49000"/>
                  </a:schemeClr>
                </a:solidFill>
              </a:rPr>
              <a:t>Project Overview</a:t>
            </a:r>
          </a:p>
        </p:txBody>
      </p:sp>
      <p:pic>
        <p:nvPicPr>
          <p:cNvPr id="19" name="Picture Placeholder 18" descr="A close-up of a person wearing scrubs">
            <a:extLst>
              <a:ext uri="{FF2B5EF4-FFF2-40B4-BE49-F238E27FC236}">
                <a16:creationId xmlns:a16="http://schemas.microsoft.com/office/drawing/2014/main" id="{B92D438B-6D57-86B9-0B77-0CC42EC18FF0}"/>
              </a:ext>
            </a:extLst>
          </p:cNvPr>
          <p:cNvPicPr>
            <a:picLocks noGrp="1" noChangeAspect="1"/>
          </p:cNvPicPr>
          <p:nvPr>
            <p:ph type="pic" sz="quarter" idx="13"/>
          </p:nvPr>
        </p:nvPicPr>
        <p:blipFill>
          <a:blip r:embed="rId3"/>
          <a:srcRect t="163" b="163"/>
          <a:stretch/>
        </p:blipFill>
        <p:spPr/>
      </p:pic>
      <p:sp>
        <p:nvSpPr>
          <p:cNvPr id="2" name="TextBox 1">
            <a:extLst>
              <a:ext uri="{FF2B5EF4-FFF2-40B4-BE49-F238E27FC236}">
                <a16:creationId xmlns:a16="http://schemas.microsoft.com/office/drawing/2014/main" id="{61016F91-5558-D3D5-E5E5-1CD6589E5088}"/>
              </a:ext>
            </a:extLst>
          </p:cNvPr>
          <p:cNvSpPr txBox="1"/>
          <p:nvPr/>
        </p:nvSpPr>
        <p:spPr>
          <a:xfrm>
            <a:off x="1327896" y="4919382"/>
            <a:ext cx="9536205"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ea typeface="+mn-lt"/>
                <a:cs typeface="+mn-lt"/>
              </a:rPr>
              <a:t>This project aims to predict the likelihood of heart disease using machine learning techniques. By analyzing medical attributes such as age, cholesterol level, chest pain type, and blood pressure, the model identifies whether a patient is at risk. The final model is deployed using a </a:t>
            </a:r>
            <a:r>
              <a:rPr lang="en-US" sz="2000" dirty="0" err="1">
                <a:ea typeface="+mn-lt"/>
                <a:cs typeface="+mn-lt"/>
              </a:rPr>
              <a:t>Streamlit</a:t>
            </a:r>
            <a:r>
              <a:rPr lang="en-US" sz="2000" dirty="0">
                <a:ea typeface="+mn-lt"/>
                <a:cs typeface="+mn-lt"/>
              </a:rPr>
              <a:t> web application, allowing users to input their health details and receive instant predictions.</a:t>
            </a:r>
            <a:endParaRPr lang="en-US" sz="2000"/>
          </a:p>
        </p:txBody>
      </p:sp>
    </p:spTree>
    <p:extLst>
      <p:ext uri="{BB962C8B-B14F-4D97-AF65-F5344CB8AC3E}">
        <p14:creationId xmlns:p14="http://schemas.microsoft.com/office/powerpoint/2010/main" val="1721841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66CF7-69F4-F432-4747-28EF15528DB9}"/>
              </a:ext>
            </a:extLst>
          </p:cNvPr>
          <p:cNvSpPr>
            <a:spLocks noGrp="1"/>
          </p:cNvSpPr>
          <p:nvPr>
            <p:ph type="ctrTitle"/>
          </p:nvPr>
        </p:nvSpPr>
        <p:spPr>
          <a:xfrm>
            <a:off x="436882" y="646725"/>
            <a:ext cx="3707652" cy="590483"/>
          </a:xfrm>
        </p:spPr>
        <p:txBody>
          <a:bodyPr/>
          <a:lstStyle/>
          <a:p>
            <a:r>
              <a:rPr lang="en-US" sz="2600" b="1">
                <a:solidFill>
                  <a:schemeClr val="accent5">
                    <a:lumMod val="49000"/>
                  </a:schemeClr>
                </a:solidFill>
              </a:rPr>
              <a:t>Business Problem</a:t>
            </a:r>
          </a:p>
        </p:txBody>
      </p:sp>
      <p:sp>
        <p:nvSpPr>
          <p:cNvPr id="3" name="Subtitle 2">
            <a:extLst>
              <a:ext uri="{FF2B5EF4-FFF2-40B4-BE49-F238E27FC236}">
                <a16:creationId xmlns:a16="http://schemas.microsoft.com/office/drawing/2014/main" id="{44082E89-DB15-6D26-7098-DA9792B0B085}"/>
              </a:ext>
            </a:extLst>
          </p:cNvPr>
          <p:cNvSpPr>
            <a:spLocks noGrp="1"/>
          </p:cNvSpPr>
          <p:nvPr>
            <p:ph type="subTitle" idx="1"/>
          </p:nvPr>
        </p:nvSpPr>
        <p:spPr>
          <a:xfrm>
            <a:off x="436881" y="1272168"/>
            <a:ext cx="3606800" cy="5094956"/>
          </a:xfrm>
        </p:spPr>
        <p:txBody>
          <a:bodyPr/>
          <a:lstStyle/>
          <a:p>
            <a:r>
              <a:rPr lang="en-US">
                <a:solidFill>
                  <a:srgbClr val="000000"/>
                </a:solidFill>
                <a:ea typeface="+mn-lt"/>
                <a:cs typeface="+mn-lt"/>
              </a:rPr>
              <a:t>Heart disease is one of the leading causes of death worldwide. Early detection plays a crucial role in saving lives.</a:t>
            </a:r>
            <a:endParaRPr lang="en-US"/>
          </a:p>
          <a:p>
            <a:r>
              <a:rPr lang="en-US">
                <a:ea typeface="+mn-lt"/>
                <a:cs typeface="+mn-lt"/>
              </a:rPr>
              <a:t>Traditional diagnosis methods :-</a:t>
            </a:r>
          </a:p>
          <a:p>
            <a:pPr marL="285750" indent="-285750">
              <a:buFont typeface="Arial" panose="05020102010507070707" pitchFamily="18" charset="2"/>
              <a:buChar char="•"/>
            </a:pPr>
            <a:r>
              <a:rPr lang="en-US" sz="1400"/>
              <a:t>Take Time</a:t>
            </a:r>
          </a:p>
          <a:p>
            <a:pPr marL="285750" indent="-285750">
              <a:buFont typeface="Arial" panose="05020102010507070707" pitchFamily="18" charset="2"/>
              <a:buChar char="•"/>
            </a:pPr>
            <a:r>
              <a:rPr lang="en-US" sz="1400">
                <a:ea typeface="+mn-lt"/>
                <a:cs typeface="+mn-lt"/>
              </a:rPr>
              <a:t>Depend heavily on doctor experience</a:t>
            </a:r>
          </a:p>
          <a:p>
            <a:pPr marL="285750" indent="-285750">
              <a:buFont typeface="Arial" panose="05020102010507070707" pitchFamily="18" charset="2"/>
              <a:buChar char="•"/>
            </a:pPr>
            <a:r>
              <a:rPr lang="en-US" sz="1400">
                <a:ea typeface="+mn-lt"/>
                <a:cs typeface="+mn-lt"/>
              </a:rPr>
              <a:t>May lead to delayed decisions</a:t>
            </a:r>
            <a:endParaRPr lang="en-US" sz="1400" dirty="0">
              <a:ea typeface="+mn-lt"/>
              <a:cs typeface="+mn-lt"/>
            </a:endParaRPr>
          </a:p>
          <a:p>
            <a:r>
              <a:rPr lang="en-US"/>
              <a:t>Solution :- </a:t>
            </a:r>
          </a:p>
          <a:p>
            <a:r>
              <a:rPr lang="en-US" dirty="0">
                <a:ea typeface="+mn-lt"/>
                <a:cs typeface="+mn-lt"/>
              </a:rPr>
              <a:t>A machine learning-based system </a:t>
            </a:r>
            <a:r>
              <a:rPr lang="en-US">
                <a:ea typeface="+mn-lt"/>
                <a:cs typeface="+mn-lt"/>
              </a:rPr>
              <a:t>that : -</a:t>
            </a:r>
          </a:p>
          <a:p>
            <a:pPr marL="285750" indent="-285750">
              <a:buFont typeface="Arial" panose="05020102010507070707" pitchFamily="18" charset="2"/>
              <a:buChar char="•"/>
            </a:pPr>
            <a:r>
              <a:rPr lang="en-US" sz="1400">
                <a:ea typeface="+mn-lt"/>
                <a:cs typeface="+mn-lt"/>
              </a:rPr>
              <a:t>Quickly predicts heart disease risk</a:t>
            </a:r>
            <a:endParaRPr lang="en-US" sz="1400" dirty="0">
              <a:ea typeface="+mn-lt"/>
              <a:cs typeface="+mn-lt"/>
            </a:endParaRPr>
          </a:p>
          <a:p>
            <a:pPr marL="285750" indent="-285750">
              <a:buFont typeface="Arial" panose="05020102010507070707" pitchFamily="18" charset="2"/>
              <a:buChar char="•"/>
            </a:pPr>
            <a:r>
              <a:rPr lang="en-US" sz="1400" dirty="0">
                <a:ea typeface="+mn-lt"/>
                <a:cs typeface="+mn-lt"/>
              </a:rPr>
              <a:t>Assists doctors in decision-making</a:t>
            </a:r>
          </a:p>
          <a:p>
            <a:pPr marL="285750" indent="-285750">
              <a:buFont typeface="Arial" panose="05020102010507070707" pitchFamily="18" charset="2"/>
              <a:buChar char="•"/>
            </a:pPr>
            <a:r>
              <a:rPr lang="en-US" sz="1400">
                <a:ea typeface="+mn-lt"/>
                <a:cs typeface="+mn-lt"/>
              </a:rPr>
              <a:t>Improves diagnosis accuracy</a:t>
            </a:r>
            <a:endParaRPr lang="en-US" sz="1400" dirty="0">
              <a:ea typeface="+mn-lt"/>
              <a:cs typeface="+mn-lt"/>
            </a:endParaRPr>
          </a:p>
          <a:p>
            <a:pPr marL="285750" indent="-285750">
              <a:buFont typeface="Arial" panose="05020102010507070707" pitchFamily="18" charset="2"/>
              <a:buChar char="•"/>
            </a:pPr>
            <a:r>
              <a:rPr lang="en-US" sz="1400">
                <a:ea typeface="+mn-lt"/>
                <a:cs typeface="+mn-lt"/>
              </a:rPr>
              <a:t>Reduces healthcare costs</a:t>
            </a:r>
            <a:endParaRPr lang="en-US" sz="1400" dirty="0">
              <a:ea typeface="+mn-lt"/>
              <a:cs typeface="+mn-lt"/>
            </a:endParaRPr>
          </a:p>
          <a:p>
            <a:endParaRPr lang="en-US" dirty="0"/>
          </a:p>
        </p:txBody>
      </p:sp>
      <p:pic>
        <p:nvPicPr>
          <p:cNvPr id="21" name="Picture Placeholder 20" descr="A person in a white coat with a stethoscope around her neck">
            <a:extLst>
              <a:ext uri="{FF2B5EF4-FFF2-40B4-BE49-F238E27FC236}">
                <a16:creationId xmlns:a16="http://schemas.microsoft.com/office/drawing/2014/main" id="{244AC564-6A07-A90A-B027-67CD2423BBD3}"/>
              </a:ext>
            </a:extLst>
          </p:cNvPr>
          <p:cNvPicPr>
            <a:picLocks noGrp="1" noChangeAspect="1"/>
          </p:cNvPicPr>
          <p:nvPr>
            <p:ph type="pic" sz="quarter" idx="13"/>
          </p:nvPr>
        </p:nvPicPr>
        <p:blipFill>
          <a:blip r:embed="rId3"/>
          <a:srcRect t="354" b="354"/>
          <a:stretch/>
        </p:blipFill>
        <p:spPr/>
      </p:pic>
    </p:spTree>
    <p:extLst>
      <p:ext uri="{BB962C8B-B14F-4D97-AF65-F5344CB8AC3E}">
        <p14:creationId xmlns:p14="http://schemas.microsoft.com/office/powerpoint/2010/main" val="1605306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618A4-5020-A570-BAAC-71C22849B320}"/>
              </a:ext>
            </a:extLst>
          </p:cNvPr>
          <p:cNvSpPr>
            <a:spLocks noGrp="1"/>
          </p:cNvSpPr>
          <p:nvPr>
            <p:ph type="title"/>
          </p:nvPr>
        </p:nvSpPr>
        <p:spPr>
          <a:xfrm>
            <a:off x="4278405" y="2945327"/>
            <a:ext cx="5466701" cy="633411"/>
          </a:xfrm>
        </p:spPr>
        <p:txBody>
          <a:bodyPr/>
          <a:lstStyle/>
          <a:p>
            <a:r>
              <a:rPr lang="en-US" b="1" dirty="0">
                <a:solidFill>
                  <a:schemeClr val="accent5">
                    <a:lumMod val="49000"/>
                  </a:schemeClr>
                </a:solidFill>
              </a:rPr>
              <a:t>Dataset </a:t>
            </a:r>
            <a:r>
              <a:rPr lang="en-US" b="1">
                <a:solidFill>
                  <a:schemeClr val="accent5">
                    <a:lumMod val="49000"/>
                  </a:schemeClr>
                </a:solidFill>
              </a:rPr>
              <a:t>Overview</a:t>
            </a:r>
            <a:endParaRPr lang="en-US" b="1" dirty="0">
              <a:solidFill>
                <a:schemeClr val="accent5">
                  <a:lumMod val="49000"/>
                </a:schemeClr>
              </a:solidFill>
            </a:endParaRPr>
          </a:p>
        </p:txBody>
      </p:sp>
      <p:pic>
        <p:nvPicPr>
          <p:cNvPr id="16" name="Picture Placeholder 15" descr="A group of surgeons wearing surgical caps and masks">
            <a:extLst>
              <a:ext uri="{FF2B5EF4-FFF2-40B4-BE49-F238E27FC236}">
                <a16:creationId xmlns:a16="http://schemas.microsoft.com/office/drawing/2014/main" id="{6EFD6230-A50E-3A63-7B72-59A8449CAEE2}"/>
              </a:ext>
            </a:extLst>
          </p:cNvPr>
          <p:cNvPicPr>
            <a:picLocks noGrp="1" noChangeAspect="1"/>
          </p:cNvPicPr>
          <p:nvPr>
            <p:ph type="pic" sz="quarter" idx="19"/>
          </p:nvPr>
        </p:nvPicPr>
        <p:blipFill rotWithShape="1">
          <a:blip r:embed="rId3"/>
          <a:srcRect t="35757" b="35757"/>
          <a:stretch/>
        </p:blipFill>
        <p:spPr/>
      </p:pic>
      <p:sp>
        <p:nvSpPr>
          <p:cNvPr id="7" name="TextBox 6">
            <a:extLst>
              <a:ext uri="{FF2B5EF4-FFF2-40B4-BE49-F238E27FC236}">
                <a16:creationId xmlns:a16="http://schemas.microsoft.com/office/drawing/2014/main" id="{85789A48-A01C-0EC1-704A-32483C93D6FF}"/>
              </a:ext>
            </a:extLst>
          </p:cNvPr>
          <p:cNvSpPr txBox="1"/>
          <p:nvPr/>
        </p:nvSpPr>
        <p:spPr>
          <a:xfrm>
            <a:off x="4280647" y="3675529"/>
            <a:ext cx="744406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dataset used in this project consists of structured medical records of patients, including both numerical and categorical features. Key attributes include age, sex, chest pain type, cholesterol level, resting blood pressure, fasting blood sugar, and maximum heart rate achieved. The dataset also includes information about exercise-induced angina and other clinical indicators. The target variable indicates whether a patient has heart disease, where 1 represents the presence of disease and 0 represents its absence. The dataset is well-suited for classification tasks and provides a solid foundation for building predictive models.</a:t>
            </a:r>
            <a:br>
              <a:rPr lang="en-US" dirty="0">
                <a:ea typeface="+mn-lt"/>
                <a:cs typeface="+mn-lt"/>
              </a:rPr>
            </a:br>
            <a:endParaRPr lang="en-US" dirty="0">
              <a:ea typeface="+mn-lt"/>
              <a:cs typeface="+mn-lt"/>
            </a:endParaRPr>
          </a:p>
          <a:p>
            <a:pPr marL="285750" indent="-285750">
              <a:buFont typeface="Arial,Sans-Serif"/>
              <a:buChar char="•"/>
            </a:pPr>
            <a:endParaRPr lang="en-US" dirty="0">
              <a:ea typeface="+mn-lt"/>
              <a:cs typeface="+mn-lt"/>
            </a:endParaRPr>
          </a:p>
          <a:p>
            <a:endParaRPr lang="en-US" dirty="0"/>
          </a:p>
        </p:txBody>
      </p:sp>
      <p:pic>
        <p:nvPicPr>
          <p:cNvPr id="12" name="Picture 11" descr="A screenshot of a computer&#10;&#10;AI-generated content may be incorrect.">
            <a:extLst>
              <a:ext uri="{FF2B5EF4-FFF2-40B4-BE49-F238E27FC236}">
                <a16:creationId xmlns:a16="http://schemas.microsoft.com/office/drawing/2014/main" id="{7EDF5162-8DA0-5CDE-74BF-8AC1857C4F40}"/>
              </a:ext>
            </a:extLst>
          </p:cNvPr>
          <p:cNvPicPr>
            <a:picLocks noChangeAspect="1"/>
          </p:cNvPicPr>
          <p:nvPr/>
        </p:nvPicPr>
        <p:blipFill>
          <a:blip r:embed="rId4"/>
          <a:stretch>
            <a:fillRect/>
          </a:stretch>
        </p:blipFill>
        <p:spPr>
          <a:xfrm>
            <a:off x="458925" y="3262544"/>
            <a:ext cx="3631957" cy="2900040"/>
          </a:xfrm>
          <a:prstGeom prst="roundRect">
            <a:avLst>
              <a:gd name="adj" fmla="val 16667"/>
            </a:avLst>
          </a:prstGeom>
          <a:ln w="28575">
            <a:solidFill>
              <a:schemeClr val="bg2">
                <a:lumMod val="50000"/>
              </a:schemeClr>
            </a:solidFill>
          </a:ln>
          <a:effectLst>
            <a:outerShdw blurRad="330200" dist="127000" dir="288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695820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903843E-1FAB-AFBB-BDC9-440FCC8CFB12}"/>
              </a:ext>
            </a:extLst>
          </p:cNvPr>
          <p:cNvSpPr>
            <a:spLocks noGrp="1"/>
          </p:cNvSpPr>
          <p:nvPr>
            <p:ph type="ctrTitle"/>
          </p:nvPr>
        </p:nvSpPr>
        <p:spPr>
          <a:xfrm>
            <a:off x="1524000" y="3429326"/>
            <a:ext cx="9144000" cy="782988"/>
          </a:xfrm>
          <a:noFill/>
        </p:spPr>
        <p:txBody>
          <a:bodyPr/>
          <a:lstStyle/>
          <a:p>
            <a:r>
              <a:rPr lang="en-US" b="1">
                <a:solidFill>
                  <a:schemeClr val="accent5">
                    <a:lumMod val="49000"/>
                  </a:schemeClr>
                </a:solidFill>
              </a:rPr>
              <a:t>Exploratory data analysis</a:t>
            </a:r>
          </a:p>
        </p:txBody>
      </p:sp>
      <p:sp>
        <p:nvSpPr>
          <p:cNvPr id="20" name="Subtitle 2">
            <a:extLst>
              <a:ext uri="{FF2B5EF4-FFF2-40B4-BE49-F238E27FC236}">
                <a16:creationId xmlns:a16="http://schemas.microsoft.com/office/drawing/2014/main" id="{826664CC-F0B7-D2E1-A321-E97944F52EA3}"/>
              </a:ext>
            </a:extLst>
          </p:cNvPr>
          <p:cNvSpPr>
            <a:spLocks noGrp="1"/>
          </p:cNvSpPr>
          <p:nvPr>
            <p:ph type="subTitle" idx="1"/>
          </p:nvPr>
        </p:nvSpPr>
        <p:spPr>
          <a:xfrm>
            <a:off x="458680" y="4202163"/>
            <a:ext cx="11296834" cy="2375006"/>
          </a:xfrm>
          <a:noFill/>
        </p:spPr>
        <p:txBody>
          <a:bodyPr anchor="t"/>
          <a:lstStyle/>
          <a:p>
            <a:r>
              <a:rPr lang="en-US" sz="2000" dirty="0">
                <a:solidFill>
                  <a:srgbClr val="000000"/>
                </a:solidFill>
                <a:ea typeface="+mn-lt"/>
                <a:cs typeface="+mn-lt"/>
              </a:rPr>
              <a:t>Exploratory Data Analysis was conducted to gain insights into the dataset and understand the relationships between different features. The analysis involved examining the distribution of numerical variables using histograms and boxplots, as well as analyzing categorical features through count plots. A correlation heatmap was generated to identify relationships between variables and their impact on the target. The analysis revealed that factors such as chest pain type, maximum heart rate, and cholesterol levels play a significant role in predicting heart disease. These insights helped guide further preprocessing and model development.</a:t>
            </a:r>
            <a:endParaRPr lang="en-US" sz="2000" dirty="0"/>
          </a:p>
          <a:p>
            <a:endParaRPr lang="en-US" sz="2000" dirty="0"/>
          </a:p>
        </p:txBody>
      </p:sp>
      <p:pic>
        <p:nvPicPr>
          <p:cNvPr id="2" name="Picture 1" descr="A magnifying glass on a graph&#10;&#10;AI-generated content may be incorrect.">
            <a:extLst>
              <a:ext uri="{FF2B5EF4-FFF2-40B4-BE49-F238E27FC236}">
                <a16:creationId xmlns:a16="http://schemas.microsoft.com/office/drawing/2014/main" id="{809D5C8C-E669-8476-2328-AFA7F4CF883F}"/>
              </a:ext>
            </a:extLst>
          </p:cNvPr>
          <p:cNvPicPr>
            <a:picLocks noChangeAspect="1"/>
          </p:cNvPicPr>
          <p:nvPr/>
        </p:nvPicPr>
        <p:blipFill>
          <a:blip r:embed="rId3"/>
          <a:stretch>
            <a:fillRect/>
          </a:stretch>
        </p:blipFill>
        <p:spPr>
          <a:xfrm>
            <a:off x="461963" y="711445"/>
            <a:ext cx="11285659" cy="2709495"/>
          </a:xfrm>
          <a:prstGeom prst="rect">
            <a:avLst/>
          </a:prstGeom>
        </p:spPr>
      </p:pic>
      <p:sp>
        <p:nvSpPr>
          <p:cNvPr id="3" name="Rectangle 2">
            <a:extLst>
              <a:ext uri="{FF2B5EF4-FFF2-40B4-BE49-F238E27FC236}">
                <a16:creationId xmlns:a16="http://schemas.microsoft.com/office/drawing/2014/main" id="{4B199482-7E16-6526-54B2-75793757559D}"/>
              </a:ext>
            </a:extLst>
          </p:cNvPr>
          <p:cNvSpPr/>
          <p:nvPr/>
        </p:nvSpPr>
        <p:spPr>
          <a:xfrm>
            <a:off x="4142912" y="725009"/>
            <a:ext cx="88776" cy="26780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195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F0FD1A0-C075-EE18-B3AE-363C242D0BCE}"/>
              </a:ext>
            </a:extLst>
          </p:cNvPr>
          <p:cNvSpPr>
            <a:spLocks noGrp="1"/>
          </p:cNvSpPr>
          <p:nvPr>
            <p:ph type="title"/>
          </p:nvPr>
        </p:nvSpPr>
        <p:spPr>
          <a:xfrm>
            <a:off x="457200" y="690880"/>
            <a:ext cx="11267440" cy="891467"/>
          </a:xfrm>
        </p:spPr>
        <p:txBody>
          <a:bodyPr/>
          <a:lstStyle/>
          <a:p>
            <a:r>
              <a:rPr lang="en-US" b="1">
                <a:solidFill>
                  <a:schemeClr val="accent5">
                    <a:lumMod val="49000"/>
                  </a:schemeClr>
                </a:solidFill>
              </a:rPr>
              <a:t>Correlation Heatmap</a:t>
            </a:r>
          </a:p>
        </p:txBody>
      </p:sp>
      <p:pic>
        <p:nvPicPr>
          <p:cNvPr id="6" name="Picture 5" descr="A screenshot of a computer&#10;&#10;AI-generated content may be incorrect.">
            <a:extLst>
              <a:ext uri="{FF2B5EF4-FFF2-40B4-BE49-F238E27FC236}">
                <a16:creationId xmlns:a16="http://schemas.microsoft.com/office/drawing/2014/main" id="{3F7DF353-9CA6-5152-BD37-ECD12B588814}"/>
              </a:ext>
            </a:extLst>
          </p:cNvPr>
          <p:cNvPicPr>
            <a:picLocks noChangeAspect="1"/>
          </p:cNvPicPr>
          <p:nvPr/>
        </p:nvPicPr>
        <p:blipFill>
          <a:blip r:embed="rId3"/>
          <a:stretch>
            <a:fillRect/>
          </a:stretch>
        </p:blipFill>
        <p:spPr>
          <a:xfrm>
            <a:off x="2630129" y="1908698"/>
            <a:ext cx="6931742" cy="4372254"/>
          </a:xfrm>
          <a:prstGeom prst="roundRect">
            <a:avLst>
              <a:gd name="adj" fmla="val 16667"/>
            </a:avLst>
          </a:prstGeom>
          <a:ln w="28575">
            <a:solidFill>
              <a:schemeClr val="bg2">
                <a:lumMod val="50000"/>
              </a:schemeClr>
            </a:solidFill>
          </a:ln>
          <a:effectLst>
            <a:outerShdw blurRad="330200" dist="127000" dir="288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837402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02AD1-5863-F5DF-51C0-A81B5EA12BFD}"/>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8EF95A1-F831-3976-AB0E-0841559DCCE8}"/>
              </a:ext>
            </a:extLst>
          </p:cNvPr>
          <p:cNvSpPr>
            <a:spLocks noGrp="1"/>
          </p:cNvSpPr>
          <p:nvPr>
            <p:ph type="title"/>
          </p:nvPr>
        </p:nvSpPr>
        <p:spPr>
          <a:xfrm>
            <a:off x="457200" y="690880"/>
            <a:ext cx="11267440" cy="684322"/>
          </a:xfrm>
        </p:spPr>
        <p:txBody>
          <a:bodyPr/>
          <a:lstStyle/>
          <a:p>
            <a:r>
              <a:rPr lang="en-US" b="1" dirty="0">
                <a:solidFill>
                  <a:schemeClr val="accent5">
                    <a:lumMod val="49000"/>
                  </a:schemeClr>
                </a:solidFill>
              </a:rPr>
              <a:t>Outlier dete</a:t>
            </a:r>
            <a:r>
              <a:rPr lang="en-US" b="1">
                <a:solidFill>
                  <a:schemeClr val="accent5">
                    <a:lumMod val="49000"/>
                  </a:schemeClr>
                </a:solidFill>
              </a:rPr>
              <a:t>ction</a:t>
            </a:r>
            <a:endParaRPr lang="en-US"/>
          </a:p>
        </p:txBody>
      </p:sp>
      <p:pic>
        <p:nvPicPr>
          <p:cNvPr id="2" name="Picture 1" descr="A screenshot of a computer screen&#10;&#10;AI-generated content may be incorrect.">
            <a:extLst>
              <a:ext uri="{FF2B5EF4-FFF2-40B4-BE49-F238E27FC236}">
                <a16:creationId xmlns:a16="http://schemas.microsoft.com/office/drawing/2014/main" id="{9E038459-48E6-5C3F-85EB-0998095E0440}"/>
              </a:ext>
            </a:extLst>
          </p:cNvPr>
          <p:cNvPicPr>
            <a:picLocks noChangeAspect="1"/>
          </p:cNvPicPr>
          <p:nvPr/>
        </p:nvPicPr>
        <p:blipFill>
          <a:blip r:embed="rId3"/>
          <a:stretch>
            <a:fillRect/>
          </a:stretch>
        </p:blipFill>
        <p:spPr>
          <a:xfrm>
            <a:off x="1998636" y="1590581"/>
            <a:ext cx="8194729" cy="4764350"/>
          </a:xfrm>
          <a:prstGeom prst="roundRect">
            <a:avLst>
              <a:gd name="adj" fmla="val 16667"/>
            </a:avLst>
          </a:prstGeom>
          <a:ln w="28575">
            <a:solidFill>
              <a:schemeClr val="bg2">
                <a:lumMod val="50000"/>
              </a:schemeClr>
            </a:solidFill>
          </a:ln>
          <a:effectLst>
            <a:outerShdw blurRad="330200" dist="127000" dir="288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224110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BA544F6-BF8C-2C87-3906-146BEDB4C299}"/>
              </a:ext>
            </a:extLst>
          </p:cNvPr>
          <p:cNvSpPr>
            <a:spLocks noGrp="1"/>
          </p:cNvSpPr>
          <p:nvPr>
            <p:ph type="title"/>
          </p:nvPr>
        </p:nvSpPr>
        <p:spPr>
          <a:xfrm>
            <a:off x="457200" y="690880"/>
            <a:ext cx="11267440" cy="669525"/>
          </a:xfrm>
        </p:spPr>
        <p:txBody>
          <a:bodyPr/>
          <a:lstStyle/>
          <a:p>
            <a:r>
              <a:rPr lang="en-US" b="1">
                <a:solidFill>
                  <a:schemeClr val="accent5">
                    <a:lumMod val="49000"/>
                  </a:schemeClr>
                </a:solidFill>
              </a:rPr>
              <a:t>Data preprocessing</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3"/>
          </p:nvPr>
        </p:nvSpPr>
        <p:spPr>
          <a:xfrm>
            <a:off x="457200" y="1366178"/>
            <a:ext cx="5640280" cy="5090464"/>
          </a:xfrm>
          <a:noFill/>
        </p:spPr>
        <p:txBody>
          <a:bodyPr vert="horz" lIns="91440" tIns="45720" rIns="91440" bIns="45720" rtlCol="0" anchor="t">
            <a:noAutofit/>
          </a:bodyPr>
          <a:lstStyle/>
          <a:p>
            <a:pPr marL="0" indent="0">
              <a:buNone/>
            </a:pPr>
            <a:r>
              <a:rPr lang="en-US" sz="2300" dirty="0">
                <a:solidFill>
                  <a:srgbClr val="000000"/>
                </a:solidFill>
                <a:latin typeface="Gill Sans MT"/>
                <a:cs typeface="Arial"/>
              </a:rPr>
              <a:t>Data preprocessing was performed to clean and prepare the dataset for model training. The target variable was separated from the feature set, and the data was checked for missing or inconsistent values. Categorical variables were converted into numerical form using appropriate encoding techniques, while numerical features were standardized using scaling methods to ensure uniformity. The dataset was then split into training and testing sets to evaluate model performance effectively. This step ensured that the data was structured, clean, and ready for machine learning algorithms.</a:t>
            </a:r>
            <a:br>
              <a:rPr lang="en-US" sz="2300" dirty="0">
                <a:latin typeface="Gill Sans MT"/>
                <a:cs typeface="Arial"/>
              </a:rPr>
            </a:br>
            <a:endParaRPr lang="en-US" sz="2300" dirty="0">
              <a:solidFill>
                <a:srgbClr val="000000"/>
              </a:solidFill>
              <a:latin typeface="Gill Sans MT"/>
              <a:cs typeface="Arial"/>
            </a:endParaRPr>
          </a:p>
          <a:p>
            <a:endParaRPr lang="en-US" sz="2300" dirty="0">
              <a:solidFill>
                <a:srgbClr val="000000"/>
              </a:solidFill>
              <a:latin typeface="Gill Sans MT"/>
              <a:cs typeface="Arial"/>
            </a:endParaRPr>
          </a:p>
        </p:txBody>
      </p:sp>
      <p:pic>
        <p:nvPicPr>
          <p:cNvPr id="6" name="Picture 5" descr="A screenshot of a computer program&#10;&#10;AI-generated content may be incorrect.">
            <a:extLst>
              <a:ext uri="{FF2B5EF4-FFF2-40B4-BE49-F238E27FC236}">
                <a16:creationId xmlns:a16="http://schemas.microsoft.com/office/drawing/2014/main" id="{9D4C1856-1FE3-F62B-04C4-6CC02E7CEAC4}"/>
              </a:ext>
            </a:extLst>
          </p:cNvPr>
          <p:cNvPicPr>
            <a:picLocks noChangeAspect="1"/>
          </p:cNvPicPr>
          <p:nvPr/>
        </p:nvPicPr>
        <p:blipFill>
          <a:blip r:embed="rId3"/>
          <a:stretch>
            <a:fillRect/>
          </a:stretch>
        </p:blipFill>
        <p:spPr>
          <a:xfrm>
            <a:off x="6414444" y="754602"/>
            <a:ext cx="5311150" cy="5703903"/>
          </a:xfrm>
          <a:prstGeom prst="roundRect">
            <a:avLst>
              <a:gd name="adj" fmla="val 16667"/>
            </a:avLst>
          </a:prstGeom>
          <a:ln w="28575">
            <a:solidFill>
              <a:schemeClr val="bg2">
                <a:lumMod val="50000"/>
              </a:schemeClr>
            </a:solidFill>
          </a:ln>
          <a:effectLst>
            <a:outerShdw blurRad="330200" dist="127000" dir="288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676905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CE3F9-7503-BEAF-8655-1FED4746ACA5}"/>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903DFA68-7653-2725-4E21-17DFBECE8665}"/>
              </a:ext>
            </a:extLst>
          </p:cNvPr>
          <p:cNvSpPr>
            <a:spLocks noGrp="1"/>
          </p:cNvSpPr>
          <p:nvPr>
            <p:ph type="title"/>
          </p:nvPr>
        </p:nvSpPr>
        <p:spPr>
          <a:xfrm>
            <a:off x="457200" y="690880"/>
            <a:ext cx="11267440" cy="669525"/>
          </a:xfrm>
        </p:spPr>
        <p:txBody>
          <a:bodyPr/>
          <a:lstStyle/>
          <a:p>
            <a:r>
              <a:rPr lang="en-US" b="1">
                <a:solidFill>
                  <a:schemeClr val="accent5">
                    <a:lumMod val="49000"/>
                  </a:schemeClr>
                </a:solidFill>
              </a:rPr>
              <a:t>Model building</a:t>
            </a:r>
            <a:endParaRPr lang="en-US">
              <a:solidFill>
                <a:schemeClr val="accent5">
                  <a:lumMod val="49000"/>
                </a:schemeClr>
              </a:solidFill>
            </a:endParaRPr>
          </a:p>
        </p:txBody>
      </p:sp>
      <p:sp>
        <p:nvSpPr>
          <p:cNvPr id="3" name="Content Placeholder 2">
            <a:extLst>
              <a:ext uri="{FF2B5EF4-FFF2-40B4-BE49-F238E27FC236}">
                <a16:creationId xmlns:a16="http://schemas.microsoft.com/office/drawing/2014/main" id="{4962E06A-F974-653D-3340-72F1BFE6F157}"/>
              </a:ext>
            </a:extLst>
          </p:cNvPr>
          <p:cNvSpPr>
            <a:spLocks noGrp="1"/>
          </p:cNvSpPr>
          <p:nvPr>
            <p:ph sz="half" idx="13"/>
          </p:nvPr>
        </p:nvSpPr>
        <p:spPr>
          <a:xfrm>
            <a:off x="457200" y="1499343"/>
            <a:ext cx="5640280" cy="4957299"/>
          </a:xfrm>
          <a:noFill/>
        </p:spPr>
        <p:txBody>
          <a:bodyPr vert="horz" lIns="91440" tIns="45720" rIns="91440" bIns="45720" rtlCol="0" anchor="t">
            <a:noAutofit/>
          </a:bodyPr>
          <a:lstStyle/>
          <a:p>
            <a:pPr marL="0" indent="0">
              <a:buNone/>
            </a:pPr>
            <a:r>
              <a:rPr lang="en-US" sz="2300" dirty="0">
                <a:solidFill>
                  <a:srgbClr val="000000"/>
                </a:solidFill>
                <a:ea typeface="+mn-lt"/>
                <a:cs typeface="+mn-lt"/>
              </a:rPr>
              <a:t>Multiple machine learning models were implemented to identify the most suitable algorithm for the prediction task. Models such as Logistic Regression, Decision Tree, and Random Forest were trained using the prepared dataset. A structured pipeline was created to combine preprocessing steps with model training, ensuring a smooth and efficient workflow. Each model was trained on the training data to learn patterns and relationships within the dataset, enabling accurate predictions.</a:t>
            </a:r>
            <a:br>
              <a:rPr lang="en-US" sz="2300" dirty="0">
                <a:solidFill>
                  <a:srgbClr val="000000"/>
                </a:solidFill>
                <a:ea typeface="+mn-lt"/>
                <a:cs typeface="+mn-lt"/>
              </a:rPr>
            </a:br>
            <a:endParaRPr lang="en-US" sz="2300" dirty="0">
              <a:solidFill>
                <a:srgbClr val="000000"/>
              </a:solidFill>
              <a:ea typeface="+mn-lt"/>
              <a:cs typeface="+mn-lt"/>
            </a:endParaRPr>
          </a:p>
          <a:p>
            <a:endParaRPr lang="en-US" sz="2300" dirty="0">
              <a:solidFill>
                <a:srgbClr val="000000"/>
              </a:solidFill>
              <a:ea typeface="+mn-lt"/>
              <a:cs typeface="+mn-lt"/>
            </a:endParaRPr>
          </a:p>
          <a:p>
            <a:pPr marL="0" indent="0">
              <a:buNone/>
            </a:pPr>
            <a:endParaRPr lang="en-US" sz="2300" dirty="0">
              <a:latin typeface="Gill Sans MT"/>
              <a:cs typeface="Arial"/>
            </a:endParaRPr>
          </a:p>
        </p:txBody>
      </p:sp>
      <p:pic>
        <p:nvPicPr>
          <p:cNvPr id="2" name="Picture 1" descr="A screenshot of a computer program&#10;&#10;AI-generated content may be incorrect.">
            <a:extLst>
              <a:ext uri="{FF2B5EF4-FFF2-40B4-BE49-F238E27FC236}">
                <a16:creationId xmlns:a16="http://schemas.microsoft.com/office/drawing/2014/main" id="{E0CCBAF5-FEC8-D1BE-C246-D61687C90EF0}"/>
              </a:ext>
            </a:extLst>
          </p:cNvPr>
          <p:cNvPicPr>
            <a:picLocks noChangeAspect="1"/>
          </p:cNvPicPr>
          <p:nvPr/>
        </p:nvPicPr>
        <p:blipFill>
          <a:blip r:embed="rId3"/>
          <a:stretch>
            <a:fillRect/>
          </a:stretch>
        </p:blipFill>
        <p:spPr>
          <a:xfrm>
            <a:off x="6484600" y="917358"/>
            <a:ext cx="5244817" cy="5526351"/>
          </a:xfrm>
          <a:prstGeom prst="roundRect">
            <a:avLst>
              <a:gd name="adj" fmla="val 16667"/>
            </a:avLst>
          </a:prstGeom>
          <a:ln w="28575">
            <a:solidFill>
              <a:schemeClr val="bg2">
                <a:lumMod val="50000"/>
              </a:schemeClr>
            </a:solidFill>
          </a:ln>
          <a:effectLst>
            <a:outerShdw blurRad="330200" dist="127000" dir="288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332810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4100D-84BA-CB07-B124-124767C842A6}"/>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15C8DE2C-598E-6D36-E129-DC3C449E99EB}"/>
              </a:ext>
            </a:extLst>
          </p:cNvPr>
          <p:cNvSpPr>
            <a:spLocks noGrp="1"/>
          </p:cNvSpPr>
          <p:nvPr>
            <p:ph type="title"/>
          </p:nvPr>
        </p:nvSpPr>
        <p:spPr>
          <a:xfrm>
            <a:off x="457200" y="690880"/>
            <a:ext cx="11267440" cy="669525"/>
          </a:xfrm>
        </p:spPr>
        <p:txBody>
          <a:bodyPr/>
          <a:lstStyle/>
          <a:p>
            <a:r>
              <a:rPr lang="en-US" b="1">
                <a:solidFill>
                  <a:schemeClr val="accent5">
                    <a:lumMod val="49000"/>
                  </a:schemeClr>
                </a:solidFill>
              </a:rPr>
              <a:t>Model evaluation and model selection</a:t>
            </a:r>
            <a:endParaRPr lang="en-US">
              <a:solidFill>
                <a:schemeClr val="accent5">
                  <a:lumMod val="49000"/>
                </a:schemeClr>
              </a:solidFill>
            </a:endParaRPr>
          </a:p>
        </p:txBody>
      </p:sp>
      <p:sp>
        <p:nvSpPr>
          <p:cNvPr id="3" name="Content Placeholder 2">
            <a:extLst>
              <a:ext uri="{FF2B5EF4-FFF2-40B4-BE49-F238E27FC236}">
                <a16:creationId xmlns:a16="http://schemas.microsoft.com/office/drawing/2014/main" id="{C79D60DC-D734-83C1-4232-D0F8095419FF}"/>
              </a:ext>
            </a:extLst>
          </p:cNvPr>
          <p:cNvSpPr>
            <a:spLocks noGrp="1"/>
          </p:cNvSpPr>
          <p:nvPr>
            <p:ph sz="half" idx="13"/>
          </p:nvPr>
        </p:nvSpPr>
        <p:spPr>
          <a:xfrm>
            <a:off x="116890" y="1499343"/>
            <a:ext cx="5729057" cy="4949901"/>
          </a:xfrm>
          <a:noFill/>
        </p:spPr>
        <p:txBody>
          <a:bodyPr vert="horz" lIns="91440" tIns="45720" rIns="91440" bIns="45720" rtlCol="0" anchor="t">
            <a:noAutofit/>
          </a:bodyPr>
          <a:lstStyle/>
          <a:p>
            <a:pPr>
              <a:buNone/>
            </a:pPr>
            <a:r>
              <a:rPr lang="en-US" sz="2300" dirty="0">
                <a:solidFill>
                  <a:srgbClr val="000000"/>
                </a:solidFill>
                <a:ea typeface="+mn-lt"/>
                <a:cs typeface="+mn-lt"/>
              </a:rPr>
              <a:t>    The performance of each model was evaluated using classification metrics such as accuracy, precision, recall, and F1 score. A confusion matrix was also used to analyze the prediction results in detail. These evaluation techniques helped in understanding how well each model performed in identifying both positive and negative cases. Based on the comparison of these metrics, the best-performing model was selected for deployment. The selected model demonstrated a strong balance between accuracy and reliability.</a:t>
            </a:r>
            <a:endParaRPr lang="en-US" dirty="0">
              <a:ea typeface="+mn-lt"/>
              <a:cs typeface="+mn-lt"/>
            </a:endParaRPr>
          </a:p>
          <a:p>
            <a:pPr>
              <a:buNone/>
            </a:pPr>
            <a:endParaRPr lang="en-US"/>
          </a:p>
        </p:txBody>
      </p:sp>
      <p:pic>
        <p:nvPicPr>
          <p:cNvPr id="4" name="Picture 3" descr="A screenshot of a computer&#10;&#10;AI-generated content may be incorrect.">
            <a:extLst>
              <a:ext uri="{FF2B5EF4-FFF2-40B4-BE49-F238E27FC236}">
                <a16:creationId xmlns:a16="http://schemas.microsoft.com/office/drawing/2014/main" id="{A157AE38-42BD-FF99-1424-021FECCE8918}"/>
              </a:ext>
            </a:extLst>
          </p:cNvPr>
          <p:cNvPicPr>
            <a:picLocks noChangeAspect="1"/>
          </p:cNvPicPr>
          <p:nvPr/>
        </p:nvPicPr>
        <p:blipFill>
          <a:blip r:embed="rId3"/>
          <a:stretch>
            <a:fillRect/>
          </a:stretch>
        </p:blipFill>
        <p:spPr>
          <a:xfrm>
            <a:off x="6067609" y="1499309"/>
            <a:ext cx="5671909" cy="4650975"/>
          </a:xfrm>
          <a:prstGeom prst="roundRect">
            <a:avLst>
              <a:gd name="adj" fmla="val 16667"/>
            </a:avLst>
          </a:prstGeom>
          <a:ln w="28575">
            <a:solidFill>
              <a:schemeClr val="bg2">
                <a:lumMod val="50000"/>
              </a:schemeClr>
            </a:solidFill>
          </a:ln>
          <a:effectLst>
            <a:outerShdw blurRad="330200" dist="127000" dir="288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150721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D7F0B11-5AF3-1D12-4201-C1E09DF7D70D}"/>
              </a:ext>
            </a:extLst>
          </p:cNvPr>
          <p:cNvSpPr>
            <a:spLocks noGrp="1"/>
          </p:cNvSpPr>
          <p:nvPr>
            <p:ph type="title"/>
          </p:nvPr>
        </p:nvSpPr>
        <p:spPr>
          <a:xfrm>
            <a:off x="457199" y="705124"/>
            <a:ext cx="11287445" cy="959144"/>
          </a:xfrm>
        </p:spPr>
        <p:txBody>
          <a:bodyPr/>
          <a:lstStyle/>
          <a:p>
            <a:r>
              <a:rPr lang="en-US" b="1" dirty="0">
                <a:solidFill>
                  <a:schemeClr val="accent5">
                    <a:lumMod val="49000"/>
                  </a:schemeClr>
                </a:solidFill>
              </a:rPr>
              <a:t>Evaluation of </a:t>
            </a:r>
            <a:r>
              <a:rPr lang="en-US" b="1">
                <a:solidFill>
                  <a:schemeClr val="accent5">
                    <a:lumMod val="49000"/>
                  </a:schemeClr>
                </a:solidFill>
              </a:rPr>
              <a:t>models based</a:t>
            </a:r>
            <a:r>
              <a:rPr lang="en-US" b="1" dirty="0">
                <a:solidFill>
                  <a:schemeClr val="accent5">
                    <a:lumMod val="49000"/>
                  </a:schemeClr>
                </a:solidFill>
              </a:rPr>
              <a:t> on their metrics</a:t>
            </a:r>
          </a:p>
        </p:txBody>
      </p:sp>
      <p:graphicFrame>
        <p:nvGraphicFramePr>
          <p:cNvPr id="12" name="Table Placeholder 3">
            <a:extLst>
              <a:ext uri="{FF2B5EF4-FFF2-40B4-BE49-F238E27FC236}">
                <a16:creationId xmlns:a16="http://schemas.microsoft.com/office/drawing/2014/main" id="{EF0D1DE7-CAB7-B879-750A-7167B6155FF7}"/>
              </a:ext>
            </a:extLst>
          </p:cNvPr>
          <p:cNvGraphicFramePr>
            <a:graphicFrameLocks noGrp="1"/>
          </p:cNvGraphicFramePr>
          <p:nvPr>
            <p:ph type="tbl" sz="quarter" idx="13"/>
            <p:extLst>
              <p:ext uri="{D42A27DB-BD31-4B8C-83A1-F6EECF244321}">
                <p14:modId xmlns:p14="http://schemas.microsoft.com/office/powerpoint/2010/main" val="2698816203"/>
              </p:ext>
            </p:extLst>
          </p:nvPr>
        </p:nvGraphicFramePr>
        <p:xfrm>
          <a:off x="458679" y="1997475"/>
          <a:ext cx="11301155" cy="4058208"/>
        </p:xfrm>
        <a:graphic>
          <a:graphicData uri="http://schemas.openxmlformats.org/drawingml/2006/table">
            <a:tbl>
              <a:tblPr firstRow="1" bandRow="1">
                <a:tableStyleId>{912C8C85-51F0-491E-9774-3900AFEF0FD7}</a:tableStyleId>
              </a:tblPr>
              <a:tblGrid>
                <a:gridCol w="2402299">
                  <a:extLst>
                    <a:ext uri="{9D8B030D-6E8A-4147-A177-3AD203B41FA5}">
                      <a16:colId xmlns:a16="http://schemas.microsoft.com/office/drawing/2014/main" val="2382218087"/>
                    </a:ext>
                  </a:extLst>
                </a:gridCol>
                <a:gridCol w="2118163">
                  <a:extLst>
                    <a:ext uri="{9D8B030D-6E8A-4147-A177-3AD203B41FA5}">
                      <a16:colId xmlns:a16="http://schemas.microsoft.com/office/drawing/2014/main" val="3953468724"/>
                    </a:ext>
                  </a:extLst>
                </a:gridCol>
                <a:gridCol w="2260231">
                  <a:extLst>
                    <a:ext uri="{9D8B030D-6E8A-4147-A177-3AD203B41FA5}">
                      <a16:colId xmlns:a16="http://schemas.microsoft.com/office/drawing/2014/main" val="4277526474"/>
                    </a:ext>
                  </a:extLst>
                </a:gridCol>
                <a:gridCol w="2260231">
                  <a:extLst>
                    <a:ext uri="{9D8B030D-6E8A-4147-A177-3AD203B41FA5}">
                      <a16:colId xmlns:a16="http://schemas.microsoft.com/office/drawing/2014/main" val="2438884888"/>
                    </a:ext>
                  </a:extLst>
                </a:gridCol>
                <a:gridCol w="2260231">
                  <a:extLst>
                    <a:ext uri="{9D8B030D-6E8A-4147-A177-3AD203B41FA5}">
                      <a16:colId xmlns:a16="http://schemas.microsoft.com/office/drawing/2014/main" val="3843395933"/>
                    </a:ext>
                  </a:extLst>
                </a:gridCol>
              </a:tblGrid>
              <a:tr h="1014552">
                <a:tc>
                  <a:txBody>
                    <a:bodyPr/>
                    <a:lstStyle/>
                    <a:p>
                      <a:pPr algn="ctr"/>
                      <a:r>
                        <a:rPr lang="en-US"/>
                        <a:t>Model</a:t>
                      </a:r>
                      <a:endParaRPr lang="en-US" dirty="0"/>
                    </a:p>
                  </a:txBody>
                  <a:tcPr anchor="ctr"/>
                </a:tc>
                <a:tc>
                  <a:txBody>
                    <a:bodyPr/>
                    <a:lstStyle/>
                    <a:p>
                      <a:pPr algn="ctr"/>
                      <a:r>
                        <a:rPr lang="en-US"/>
                        <a:t>Precision</a:t>
                      </a:r>
                      <a:endParaRPr lang="en-US" dirty="0"/>
                    </a:p>
                  </a:txBody>
                  <a:tcPr anchor="ctr"/>
                </a:tc>
                <a:tc>
                  <a:txBody>
                    <a:bodyPr/>
                    <a:lstStyle/>
                    <a:p>
                      <a:pPr algn="ctr"/>
                      <a:r>
                        <a:rPr lang="en-US"/>
                        <a:t>Recall</a:t>
                      </a:r>
                      <a:endParaRPr lang="en-US" dirty="0"/>
                    </a:p>
                  </a:txBody>
                  <a:tcPr anchor="ctr"/>
                </a:tc>
                <a:tc>
                  <a:txBody>
                    <a:bodyPr/>
                    <a:lstStyle/>
                    <a:p>
                      <a:pPr algn="ctr"/>
                      <a:r>
                        <a:rPr lang="en-US"/>
                        <a:t>F-1 Score</a:t>
                      </a:r>
                      <a:endParaRPr lang="en-US" dirty="0"/>
                    </a:p>
                  </a:txBody>
                  <a:tcPr anchor="ctr"/>
                </a:tc>
                <a:tc>
                  <a:txBody>
                    <a:bodyPr/>
                    <a:lstStyle/>
                    <a:p>
                      <a:pPr lvl="0" algn="ctr">
                        <a:buNone/>
                      </a:pPr>
                      <a:r>
                        <a:rPr lang="en-US"/>
                        <a:t>Support</a:t>
                      </a:r>
                      <a:endParaRPr lang="en-US" dirty="0"/>
                    </a:p>
                  </a:txBody>
                  <a:tcPr anchor="ctr"/>
                </a:tc>
                <a:extLst>
                  <a:ext uri="{0D108BD9-81ED-4DB2-BD59-A6C34878D82A}">
                    <a16:rowId xmlns:a16="http://schemas.microsoft.com/office/drawing/2014/main" val="2857107962"/>
                  </a:ext>
                </a:extLst>
              </a:tr>
              <a:tr h="1014552">
                <a:tc>
                  <a:txBody>
                    <a:bodyPr/>
                    <a:lstStyle/>
                    <a:p>
                      <a:pPr algn="ctr"/>
                      <a:r>
                        <a:rPr lang="en-US"/>
                        <a:t>Linear Regression</a:t>
                      </a:r>
                    </a:p>
                  </a:txBody>
                  <a:tcPr anchor="ctr"/>
                </a:tc>
                <a:tc>
                  <a:txBody>
                    <a:bodyPr/>
                    <a:lstStyle/>
                    <a:p>
                      <a:pPr algn="ctr"/>
                      <a:r>
                        <a:rPr lang="en-US"/>
                        <a:t>0.75</a:t>
                      </a:r>
                      <a:endParaRPr lang="en-US" dirty="0"/>
                    </a:p>
                  </a:txBody>
                  <a:tcPr anchor="ctr"/>
                </a:tc>
                <a:tc>
                  <a:txBody>
                    <a:bodyPr/>
                    <a:lstStyle/>
                    <a:p>
                      <a:pPr algn="ctr"/>
                      <a:r>
                        <a:rPr lang="en-US"/>
                        <a:t>0.94</a:t>
                      </a:r>
                      <a:endParaRPr lang="en-US" dirty="0"/>
                    </a:p>
                  </a:txBody>
                  <a:tcPr anchor="ctr"/>
                </a:tc>
                <a:tc>
                  <a:txBody>
                    <a:bodyPr/>
                    <a:lstStyle/>
                    <a:p>
                      <a:pPr algn="ctr"/>
                      <a:r>
                        <a:rPr lang="en-US"/>
                        <a:t>0.83</a:t>
                      </a:r>
                      <a:endParaRPr lang="en-US" dirty="0"/>
                    </a:p>
                  </a:txBody>
                  <a:tcPr anchor="ctr"/>
                </a:tc>
                <a:tc>
                  <a:txBody>
                    <a:bodyPr/>
                    <a:lstStyle/>
                    <a:p>
                      <a:pPr lvl="0" algn="ctr">
                        <a:buNone/>
                      </a:pPr>
                      <a:r>
                        <a:rPr lang="en-US"/>
                        <a:t>16</a:t>
                      </a:r>
                      <a:endParaRPr lang="en-US" dirty="0"/>
                    </a:p>
                  </a:txBody>
                  <a:tcPr anchor="ctr"/>
                </a:tc>
                <a:extLst>
                  <a:ext uri="{0D108BD9-81ED-4DB2-BD59-A6C34878D82A}">
                    <a16:rowId xmlns:a16="http://schemas.microsoft.com/office/drawing/2014/main" val="1671386868"/>
                  </a:ext>
                </a:extLst>
              </a:tr>
              <a:tr h="1014552">
                <a:tc>
                  <a:txBody>
                    <a:bodyPr/>
                    <a:lstStyle/>
                    <a:p>
                      <a:pPr algn="ctr"/>
                      <a:r>
                        <a:rPr lang="en-US"/>
                        <a:t>Decision Tree Classifier</a:t>
                      </a:r>
                      <a:endParaRPr lang="en-US" dirty="0" err="1"/>
                    </a:p>
                  </a:txBody>
                  <a:tcPr anchor="ctr"/>
                </a:tc>
                <a:tc>
                  <a:txBody>
                    <a:bodyPr/>
                    <a:lstStyle/>
                    <a:p>
                      <a:pPr algn="ctr"/>
                      <a:r>
                        <a:rPr lang="en-US"/>
                        <a:t>0.67</a:t>
                      </a:r>
                      <a:endParaRPr lang="en-US" dirty="0"/>
                    </a:p>
                  </a:txBody>
                  <a:tcPr anchor="ctr"/>
                </a:tc>
                <a:tc>
                  <a:txBody>
                    <a:bodyPr/>
                    <a:lstStyle/>
                    <a:p>
                      <a:pPr algn="ctr"/>
                      <a:r>
                        <a:rPr lang="en-US"/>
                        <a:t>1.00</a:t>
                      </a:r>
                      <a:endParaRPr lang="en-US" dirty="0"/>
                    </a:p>
                  </a:txBody>
                  <a:tcPr anchor="ctr"/>
                </a:tc>
                <a:tc>
                  <a:txBody>
                    <a:bodyPr/>
                    <a:lstStyle/>
                    <a:p>
                      <a:pPr algn="ctr"/>
                      <a:r>
                        <a:rPr lang="en-US"/>
                        <a:t>0.80</a:t>
                      </a:r>
                      <a:endParaRPr lang="en-US" dirty="0"/>
                    </a:p>
                  </a:txBody>
                  <a:tcPr anchor="ctr"/>
                </a:tc>
                <a:tc>
                  <a:txBody>
                    <a:bodyPr/>
                    <a:lstStyle/>
                    <a:p>
                      <a:pPr lvl="0" algn="ctr">
                        <a:buNone/>
                      </a:pPr>
                      <a:r>
                        <a:rPr lang="en-US"/>
                        <a:t>16</a:t>
                      </a:r>
                      <a:endParaRPr lang="en-US" dirty="0"/>
                    </a:p>
                  </a:txBody>
                  <a:tcPr anchor="ctr"/>
                </a:tc>
                <a:extLst>
                  <a:ext uri="{0D108BD9-81ED-4DB2-BD59-A6C34878D82A}">
                    <a16:rowId xmlns:a16="http://schemas.microsoft.com/office/drawing/2014/main" val="380626418"/>
                  </a:ext>
                </a:extLst>
              </a:tr>
              <a:tr h="1014552">
                <a:tc>
                  <a:txBody>
                    <a:bodyPr/>
                    <a:lstStyle/>
                    <a:p>
                      <a:pPr algn="ctr"/>
                      <a:r>
                        <a:rPr lang="en-US"/>
                        <a:t>Random Forest Classifier</a:t>
                      </a:r>
                      <a:endParaRPr lang="en-US" dirty="0"/>
                    </a:p>
                  </a:txBody>
                  <a:tcPr anchor="ctr"/>
                </a:tc>
                <a:tc>
                  <a:txBody>
                    <a:bodyPr/>
                    <a:lstStyle/>
                    <a:p>
                      <a:pPr algn="ctr"/>
                      <a:r>
                        <a:rPr lang="en-US"/>
                        <a:t>0.71</a:t>
                      </a:r>
                      <a:endParaRPr lang="en-US" dirty="0"/>
                    </a:p>
                  </a:txBody>
                  <a:tcPr anchor="ctr"/>
                </a:tc>
                <a:tc>
                  <a:txBody>
                    <a:bodyPr/>
                    <a:lstStyle/>
                    <a:p>
                      <a:pPr algn="ctr"/>
                      <a:r>
                        <a:rPr lang="en-US"/>
                        <a:t>0.94</a:t>
                      </a:r>
                      <a:endParaRPr lang="en-US" dirty="0"/>
                    </a:p>
                  </a:txBody>
                  <a:tcPr anchor="ctr"/>
                </a:tc>
                <a:tc>
                  <a:txBody>
                    <a:bodyPr/>
                    <a:lstStyle/>
                    <a:p>
                      <a:pPr algn="ctr"/>
                      <a:r>
                        <a:rPr lang="en-US"/>
                        <a:t>0.81</a:t>
                      </a:r>
                      <a:endParaRPr lang="en-US" dirty="0"/>
                    </a:p>
                  </a:txBody>
                  <a:tcPr anchor="ctr"/>
                </a:tc>
                <a:tc>
                  <a:txBody>
                    <a:bodyPr/>
                    <a:lstStyle/>
                    <a:p>
                      <a:pPr lvl="0" algn="ctr">
                        <a:buNone/>
                      </a:pPr>
                      <a:r>
                        <a:rPr lang="en-US"/>
                        <a:t>16</a:t>
                      </a:r>
                      <a:endParaRPr lang="en-US" dirty="0"/>
                    </a:p>
                  </a:txBody>
                  <a:tcPr anchor="ctr"/>
                </a:tc>
                <a:extLst>
                  <a:ext uri="{0D108BD9-81ED-4DB2-BD59-A6C34878D82A}">
                    <a16:rowId xmlns:a16="http://schemas.microsoft.com/office/drawing/2014/main" val="2132482967"/>
                  </a:ext>
                </a:extLst>
              </a:tr>
            </a:tbl>
          </a:graphicData>
        </a:graphic>
      </p:graphicFrame>
    </p:spTree>
    <p:extLst>
      <p:ext uri="{BB962C8B-B14F-4D97-AF65-F5344CB8AC3E}">
        <p14:creationId xmlns:p14="http://schemas.microsoft.com/office/powerpoint/2010/main" val="3604630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CBFEB-124A-66D7-309D-6312AD0A24DB}"/>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47C4A75B-F153-CEFC-E67E-92FADCEF1577}"/>
              </a:ext>
            </a:extLst>
          </p:cNvPr>
          <p:cNvSpPr>
            <a:spLocks noGrp="1"/>
          </p:cNvSpPr>
          <p:nvPr>
            <p:ph type="title"/>
          </p:nvPr>
        </p:nvSpPr>
        <p:spPr>
          <a:xfrm>
            <a:off x="457200" y="690880"/>
            <a:ext cx="11267440" cy="669525"/>
          </a:xfrm>
        </p:spPr>
        <p:txBody>
          <a:bodyPr/>
          <a:lstStyle/>
          <a:p>
            <a:r>
              <a:rPr lang="en-US" b="1">
                <a:solidFill>
                  <a:schemeClr val="accent5">
                    <a:lumMod val="49000"/>
                  </a:schemeClr>
                </a:solidFill>
              </a:rPr>
              <a:t>Model saving</a:t>
            </a:r>
            <a:endParaRPr lang="en-US"/>
          </a:p>
        </p:txBody>
      </p:sp>
      <p:sp>
        <p:nvSpPr>
          <p:cNvPr id="3" name="Content Placeholder 2">
            <a:extLst>
              <a:ext uri="{FF2B5EF4-FFF2-40B4-BE49-F238E27FC236}">
                <a16:creationId xmlns:a16="http://schemas.microsoft.com/office/drawing/2014/main" id="{877FCE29-0E2E-472D-8E82-AB638055936B}"/>
              </a:ext>
            </a:extLst>
          </p:cNvPr>
          <p:cNvSpPr>
            <a:spLocks noGrp="1"/>
          </p:cNvSpPr>
          <p:nvPr>
            <p:ph sz="half" idx="13"/>
          </p:nvPr>
        </p:nvSpPr>
        <p:spPr>
          <a:xfrm>
            <a:off x="116890" y="1499343"/>
            <a:ext cx="5729057" cy="4949901"/>
          </a:xfrm>
          <a:noFill/>
        </p:spPr>
        <p:txBody>
          <a:bodyPr vert="horz" lIns="91440" tIns="45720" rIns="91440" bIns="45720" rtlCol="0" anchor="t">
            <a:noAutofit/>
          </a:bodyPr>
          <a:lstStyle/>
          <a:p>
            <a:pPr>
              <a:buNone/>
            </a:pPr>
            <a:r>
              <a:rPr lang="en-US" sz="2400" dirty="0">
                <a:solidFill>
                  <a:srgbClr val="000000"/>
                </a:solidFill>
                <a:ea typeface="+mn-lt"/>
                <a:cs typeface="+mn-lt"/>
              </a:rPr>
              <a:t>    After selecting the best-performing model, it was saved using serialization techniques to enable future use without retraining. Libraries such as Pickle or </a:t>
            </a:r>
            <a:r>
              <a:rPr lang="en-US" sz="2400" dirty="0" err="1">
                <a:solidFill>
                  <a:srgbClr val="000000"/>
                </a:solidFill>
                <a:ea typeface="+mn-lt"/>
                <a:cs typeface="+mn-lt"/>
              </a:rPr>
              <a:t>Joblib</a:t>
            </a:r>
            <a:r>
              <a:rPr lang="en-US" sz="2400" dirty="0">
                <a:solidFill>
                  <a:srgbClr val="000000"/>
                </a:solidFill>
                <a:ea typeface="+mn-lt"/>
                <a:cs typeface="+mn-lt"/>
              </a:rPr>
              <a:t> were used to store the trained model in a file format. Along with the model, preprocessing components such as the scaler were also saved to ensure consistency during prediction. This step allows the model to be easily loaded and integrated into applications for real-time predictions.</a:t>
            </a:r>
            <a:endParaRPr lang="en-US" sz="2400">
              <a:ea typeface="+mn-lt"/>
              <a:cs typeface="+mn-lt"/>
            </a:endParaRPr>
          </a:p>
          <a:p>
            <a:pPr>
              <a:buNone/>
            </a:pPr>
            <a:endParaRPr lang="en-US" sz="2400" dirty="0"/>
          </a:p>
        </p:txBody>
      </p:sp>
      <p:pic>
        <p:nvPicPr>
          <p:cNvPr id="2" name="Picture 1" descr="A screenshot of a computer program&#10;&#10;AI-generated content may be incorrect.">
            <a:extLst>
              <a:ext uri="{FF2B5EF4-FFF2-40B4-BE49-F238E27FC236}">
                <a16:creationId xmlns:a16="http://schemas.microsoft.com/office/drawing/2014/main" id="{23146E55-1CFD-F708-189F-D7E2538D3D9E}"/>
              </a:ext>
            </a:extLst>
          </p:cNvPr>
          <p:cNvPicPr>
            <a:picLocks noChangeAspect="1"/>
          </p:cNvPicPr>
          <p:nvPr/>
        </p:nvPicPr>
        <p:blipFill>
          <a:blip r:embed="rId3"/>
          <a:stretch>
            <a:fillRect/>
          </a:stretch>
        </p:blipFill>
        <p:spPr>
          <a:xfrm>
            <a:off x="6092578" y="1491356"/>
            <a:ext cx="5747737" cy="4681676"/>
          </a:xfrm>
          <a:prstGeom prst="roundRect">
            <a:avLst>
              <a:gd name="adj" fmla="val 16667"/>
            </a:avLst>
          </a:prstGeom>
          <a:ln w="28575">
            <a:solidFill>
              <a:schemeClr val="bg2">
                <a:lumMod val="50000"/>
              </a:schemeClr>
            </a:solidFill>
          </a:ln>
          <a:effectLst>
            <a:outerShdw blurRad="330200" dist="127000" dir="288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567542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7377E-2139-88F7-3E73-102EB28F86D9}"/>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04FECA33-8C3B-E6E5-5C00-E26A1D28CE25}"/>
              </a:ext>
            </a:extLst>
          </p:cNvPr>
          <p:cNvSpPr>
            <a:spLocks noGrp="1"/>
          </p:cNvSpPr>
          <p:nvPr>
            <p:ph type="title"/>
          </p:nvPr>
        </p:nvSpPr>
        <p:spPr>
          <a:xfrm>
            <a:off x="457200" y="690880"/>
            <a:ext cx="11267440" cy="669525"/>
          </a:xfrm>
        </p:spPr>
        <p:txBody>
          <a:bodyPr/>
          <a:lstStyle/>
          <a:p>
            <a:r>
              <a:rPr lang="en-US" b="1" dirty="0">
                <a:solidFill>
                  <a:schemeClr val="accent5">
                    <a:lumMod val="49000"/>
                  </a:schemeClr>
                </a:solidFill>
              </a:rPr>
              <a:t>Building the web appli</a:t>
            </a:r>
            <a:r>
              <a:rPr lang="en-US" b="1">
                <a:solidFill>
                  <a:schemeClr val="accent5">
                    <a:lumMod val="49000"/>
                  </a:schemeClr>
                </a:solidFill>
              </a:rPr>
              <a:t>cation</a:t>
            </a:r>
            <a:endParaRPr lang="en-US">
              <a:solidFill>
                <a:schemeClr val="accent5">
                  <a:lumMod val="49000"/>
                </a:schemeClr>
              </a:solidFill>
            </a:endParaRPr>
          </a:p>
        </p:txBody>
      </p:sp>
      <p:sp>
        <p:nvSpPr>
          <p:cNvPr id="3" name="Content Placeholder 2">
            <a:extLst>
              <a:ext uri="{FF2B5EF4-FFF2-40B4-BE49-F238E27FC236}">
                <a16:creationId xmlns:a16="http://schemas.microsoft.com/office/drawing/2014/main" id="{487CA4ED-71D8-CFEF-5FC0-D096DDD2169B}"/>
              </a:ext>
            </a:extLst>
          </p:cNvPr>
          <p:cNvSpPr>
            <a:spLocks noGrp="1"/>
          </p:cNvSpPr>
          <p:nvPr>
            <p:ph sz="half" idx="13"/>
          </p:nvPr>
        </p:nvSpPr>
        <p:spPr>
          <a:xfrm>
            <a:off x="116890" y="1499343"/>
            <a:ext cx="5729057" cy="4949901"/>
          </a:xfrm>
          <a:noFill/>
        </p:spPr>
        <p:txBody>
          <a:bodyPr vert="horz" lIns="91440" tIns="45720" rIns="91440" bIns="45720" rtlCol="0" anchor="t">
            <a:noAutofit/>
          </a:bodyPr>
          <a:lstStyle/>
          <a:p>
            <a:pPr>
              <a:buNone/>
            </a:pPr>
            <a:r>
              <a:rPr lang="en-US" sz="2400" dirty="0">
                <a:solidFill>
                  <a:srgbClr val="000000"/>
                </a:solidFill>
                <a:ea typeface="+mn-lt"/>
                <a:cs typeface="+mn-lt"/>
              </a:rPr>
              <a:t>    A web application was developed using </a:t>
            </a:r>
            <a:r>
              <a:rPr lang="en-US" sz="2400" dirty="0" err="1">
                <a:solidFill>
                  <a:srgbClr val="000000"/>
                </a:solidFill>
                <a:ea typeface="+mn-lt"/>
                <a:cs typeface="+mn-lt"/>
              </a:rPr>
              <a:t>Streamlit</a:t>
            </a:r>
            <a:r>
              <a:rPr lang="en-US" sz="2400" dirty="0">
                <a:solidFill>
                  <a:srgbClr val="000000"/>
                </a:solidFill>
                <a:ea typeface="+mn-lt"/>
                <a:cs typeface="+mn-lt"/>
              </a:rPr>
              <a:t> to make the machine learning model accessible to users. The application provides an intuitive interface where users can input their medical details. The backend integrates the trained model, processes the input data, and generates predictions instantly. This step transforms the machine learning model into a practical tool that can be used in real-world scenarios.</a:t>
            </a:r>
            <a:endParaRPr lang="en-US" dirty="0">
              <a:ea typeface="+mn-lt"/>
              <a:cs typeface="+mn-lt"/>
            </a:endParaRPr>
          </a:p>
          <a:p>
            <a:pPr>
              <a:buNone/>
            </a:pPr>
            <a:endParaRPr lang="en-US"/>
          </a:p>
        </p:txBody>
      </p:sp>
      <p:pic>
        <p:nvPicPr>
          <p:cNvPr id="5" name="Picture 4" descr="A group of people standing on a ladder and holding a large screen&#10;&#10;AI-generated content may be incorrect.">
            <a:extLst>
              <a:ext uri="{FF2B5EF4-FFF2-40B4-BE49-F238E27FC236}">
                <a16:creationId xmlns:a16="http://schemas.microsoft.com/office/drawing/2014/main" id="{9AF6D456-1CA8-1A3D-F921-55D56057F1C9}"/>
              </a:ext>
            </a:extLst>
          </p:cNvPr>
          <p:cNvPicPr>
            <a:picLocks noChangeAspect="1"/>
          </p:cNvPicPr>
          <p:nvPr/>
        </p:nvPicPr>
        <p:blipFill>
          <a:blip r:embed="rId3"/>
          <a:stretch>
            <a:fillRect/>
          </a:stretch>
        </p:blipFill>
        <p:spPr>
          <a:xfrm>
            <a:off x="6090080" y="1502268"/>
            <a:ext cx="5737936" cy="4423113"/>
          </a:xfrm>
          <a:prstGeom prst="roundRect">
            <a:avLst>
              <a:gd name="adj" fmla="val 16667"/>
            </a:avLst>
          </a:prstGeom>
          <a:ln w="28575">
            <a:solidFill>
              <a:schemeClr val="bg2">
                <a:lumMod val="50000"/>
              </a:schemeClr>
            </a:solidFill>
          </a:ln>
          <a:effectLst>
            <a:outerShdw blurRad="330200" dist="127000" dir="288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512659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D715DBBC-70C2-E94B-9B03-12910F0B5438}"/>
              </a:ext>
            </a:extLst>
          </p:cNvPr>
          <p:cNvSpPr>
            <a:spLocks noGrp="1"/>
          </p:cNvSpPr>
          <p:nvPr>
            <p:ph type="ctrTitle"/>
          </p:nvPr>
        </p:nvSpPr>
        <p:spPr>
          <a:xfrm>
            <a:off x="6100821" y="756159"/>
            <a:ext cx="5752345" cy="968103"/>
          </a:xfrm>
        </p:spPr>
        <p:txBody>
          <a:bodyPr/>
          <a:lstStyle/>
          <a:p>
            <a:r>
              <a:rPr lang="en-US" sz="3200" b="1">
                <a:solidFill>
                  <a:schemeClr val="accent5">
                    <a:lumMod val="49000"/>
                  </a:schemeClr>
                </a:solidFill>
                <a:ea typeface="+mj-lt"/>
                <a:cs typeface="+mj-lt"/>
              </a:rPr>
              <a:t>Web Application Demo</a:t>
            </a:r>
            <a:endParaRPr lang="en-US" sz="3200" b="1" dirty="0">
              <a:solidFill>
                <a:schemeClr val="accent5">
                  <a:lumMod val="49000"/>
                </a:schemeClr>
              </a:solidFill>
            </a:endParaRPr>
          </a:p>
          <a:p>
            <a:endParaRPr lang="en-US" sz="3200" b="1" dirty="0">
              <a:solidFill>
                <a:schemeClr val="accent5">
                  <a:lumMod val="49000"/>
                </a:schemeClr>
              </a:solidFill>
            </a:endParaRPr>
          </a:p>
        </p:txBody>
      </p:sp>
      <p:pic>
        <p:nvPicPr>
          <p:cNvPr id="21" name="Picture Placeholder 20" descr="Two people smiling while holding coffee">
            <a:extLst>
              <a:ext uri="{FF2B5EF4-FFF2-40B4-BE49-F238E27FC236}">
                <a16:creationId xmlns:a16="http://schemas.microsoft.com/office/drawing/2014/main" id="{75E7485A-FBCC-4222-2274-2B2A0804BC97}"/>
              </a:ext>
            </a:extLst>
          </p:cNvPr>
          <p:cNvPicPr>
            <a:picLocks noGrp="1" noChangeAspect="1"/>
          </p:cNvPicPr>
          <p:nvPr>
            <p:ph type="pic" sz="quarter" idx="13"/>
          </p:nvPr>
        </p:nvPicPr>
        <p:blipFill>
          <a:blip r:embed="rId3"/>
          <a:srcRect l="38" r="38"/>
          <a:stretch/>
        </p:blipFill>
        <p:spPr/>
      </p:pic>
      <p:pic>
        <p:nvPicPr>
          <p:cNvPr id="2" name="Picture 1" descr="A screenshot of a medical report&#10;&#10;AI-generated content may be incorrect.">
            <a:extLst>
              <a:ext uri="{FF2B5EF4-FFF2-40B4-BE49-F238E27FC236}">
                <a16:creationId xmlns:a16="http://schemas.microsoft.com/office/drawing/2014/main" id="{ABE62362-E256-F54F-B219-5BBA39DBE8D6}"/>
              </a:ext>
            </a:extLst>
          </p:cNvPr>
          <p:cNvPicPr>
            <a:picLocks noChangeAspect="1"/>
          </p:cNvPicPr>
          <p:nvPr/>
        </p:nvPicPr>
        <p:blipFill>
          <a:blip r:embed="rId4"/>
          <a:stretch>
            <a:fillRect/>
          </a:stretch>
        </p:blipFill>
        <p:spPr>
          <a:xfrm>
            <a:off x="7005266" y="1242874"/>
            <a:ext cx="3937158" cy="5178641"/>
          </a:xfrm>
          <a:prstGeom prst="roundRect">
            <a:avLst>
              <a:gd name="adj" fmla="val 16667"/>
            </a:avLst>
          </a:prstGeom>
          <a:ln w="28575">
            <a:solidFill>
              <a:schemeClr val="bg2">
                <a:lumMod val="50000"/>
              </a:schemeClr>
            </a:solidFill>
          </a:ln>
          <a:effectLst>
            <a:outerShdw blurRad="330200" dist="127000" dir="288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854442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A9B23-8A8A-35F1-6AE8-1570421F5995}"/>
            </a:ext>
          </a:extLst>
        </p:cNvPr>
        <p:cNvGrpSpPr/>
        <p:nvPr/>
      </p:nvGrpSpPr>
      <p:grpSpPr>
        <a:xfrm>
          <a:off x="0" y="0"/>
          <a:ext cx="0" cy="0"/>
          <a:chOff x="0" y="0"/>
          <a:chExt cx="0" cy="0"/>
        </a:xfrm>
      </p:grpSpPr>
      <p:sp>
        <p:nvSpPr>
          <p:cNvPr id="26" name="Title 25">
            <a:extLst>
              <a:ext uri="{FF2B5EF4-FFF2-40B4-BE49-F238E27FC236}">
                <a16:creationId xmlns:a16="http://schemas.microsoft.com/office/drawing/2014/main" id="{FE766908-CED1-31A5-E1C0-907FC74B5C2A}"/>
              </a:ext>
            </a:extLst>
          </p:cNvPr>
          <p:cNvSpPr>
            <a:spLocks noGrp="1"/>
          </p:cNvSpPr>
          <p:nvPr>
            <p:ph type="ctrTitle"/>
          </p:nvPr>
        </p:nvSpPr>
        <p:spPr>
          <a:xfrm>
            <a:off x="346944" y="851956"/>
            <a:ext cx="5752345" cy="509349"/>
          </a:xfrm>
        </p:spPr>
        <p:txBody>
          <a:bodyPr/>
          <a:lstStyle/>
          <a:p>
            <a:r>
              <a:rPr lang="en-US" sz="3200" b="1">
                <a:solidFill>
                  <a:schemeClr val="accent5">
                    <a:lumMod val="49000"/>
                  </a:schemeClr>
                </a:solidFill>
                <a:ea typeface="+mj-lt"/>
                <a:cs typeface="+mj-lt"/>
              </a:rPr>
              <a:t>Conclusion</a:t>
            </a:r>
          </a:p>
        </p:txBody>
      </p:sp>
      <p:pic>
        <p:nvPicPr>
          <p:cNvPr id="5" name="Picture Placeholder 4" descr="A person with a paper ball in their head&#10;&#10;AI-generated content may be incorrect.">
            <a:extLst>
              <a:ext uri="{FF2B5EF4-FFF2-40B4-BE49-F238E27FC236}">
                <a16:creationId xmlns:a16="http://schemas.microsoft.com/office/drawing/2014/main" id="{A4CAF287-58F3-EC4C-5990-8A0F82566A6B}"/>
              </a:ext>
            </a:extLst>
          </p:cNvPr>
          <p:cNvPicPr>
            <a:picLocks noGrp="1" noChangeAspect="1"/>
          </p:cNvPicPr>
          <p:nvPr>
            <p:ph type="pic" sz="quarter" idx="13"/>
          </p:nvPr>
        </p:nvPicPr>
        <p:blipFill>
          <a:blip r:embed="rId3"/>
          <a:srcRect t="6502" b="6502"/>
          <a:stretch/>
        </p:blipFill>
        <p:spPr>
          <a:xfrm>
            <a:off x="6568751" y="753908"/>
            <a:ext cx="5171440" cy="5662230"/>
          </a:xfrm>
          <a:custGeom>
            <a:avLst/>
            <a:gdLst>
              <a:gd name="connsiteX0" fmla="*/ 0 w 5171440"/>
              <a:gd name="connsiteY0" fmla="*/ 5056400 h 5662230"/>
              <a:gd name="connsiteX1" fmla="*/ 3685975 w 5171440"/>
              <a:gd name="connsiteY1" fmla="*/ 5056400 h 5662230"/>
              <a:gd name="connsiteX2" fmla="*/ 3685975 w 5171440"/>
              <a:gd name="connsiteY2" fmla="*/ 5662230 h 5662230"/>
              <a:gd name="connsiteX3" fmla="*/ 0 w 5171440"/>
              <a:gd name="connsiteY3" fmla="*/ 5662230 h 5662230"/>
              <a:gd name="connsiteX4" fmla="*/ 3789884 w 5171440"/>
              <a:gd name="connsiteY4" fmla="*/ 0 h 5662230"/>
              <a:gd name="connsiteX5" fmla="*/ 5171440 w 5171440"/>
              <a:gd name="connsiteY5" fmla="*/ 0 h 5662230"/>
              <a:gd name="connsiteX6" fmla="*/ 5171440 w 5171440"/>
              <a:gd name="connsiteY6" fmla="*/ 5662230 h 5662230"/>
              <a:gd name="connsiteX7" fmla="*/ 3789884 w 5171440"/>
              <a:gd name="connsiteY7" fmla="*/ 5662230 h 5662230"/>
              <a:gd name="connsiteX8" fmla="*/ 3789884 w 5171440"/>
              <a:gd name="connsiteY8" fmla="*/ 5056400 h 5662230"/>
              <a:gd name="connsiteX9" fmla="*/ 5168980 w 5171440"/>
              <a:gd name="connsiteY9" fmla="*/ 5056400 h 5662230"/>
              <a:gd name="connsiteX10" fmla="*/ 5168980 w 5171440"/>
              <a:gd name="connsiteY10" fmla="*/ 4956108 h 5662230"/>
              <a:gd name="connsiteX11" fmla="*/ 3789884 w 5171440"/>
              <a:gd name="connsiteY11" fmla="*/ 4956108 h 5662230"/>
              <a:gd name="connsiteX12" fmla="*/ 0 w 5171440"/>
              <a:gd name="connsiteY12" fmla="*/ 0 h 5662230"/>
              <a:gd name="connsiteX13" fmla="*/ 3685975 w 5171440"/>
              <a:gd name="connsiteY13" fmla="*/ 0 h 5662230"/>
              <a:gd name="connsiteX14" fmla="*/ 3685975 w 5171440"/>
              <a:gd name="connsiteY14" fmla="*/ 4956108 h 5662230"/>
              <a:gd name="connsiteX15" fmla="*/ 0 w 5171440"/>
              <a:gd name="connsiteY15" fmla="*/ 4956108 h 566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71440" h="5662230">
                <a:moveTo>
                  <a:pt x="0" y="5056400"/>
                </a:moveTo>
                <a:lnTo>
                  <a:pt x="3685975" y="5056400"/>
                </a:lnTo>
                <a:lnTo>
                  <a:pt x="3685975" y="5662230"/>
                </a:lnTo>
                <a:lnTo>
                  <a:pt x="0" y="5662230"/>
                </a:lnTo>
                <a:close/>
                <a:moveTo>
                  <a:pt x="3789884" y="0"/>
                </a:moveTo>
                <a:lnTo>
                  <a:pt x="5171440" y="0"/>
                </a:lnTo>
                <a:lnTo>
                  <a:pt x="5171440" y="5662230"/>
                </a:lnTo>
                <a:lnTo>
                  <a:pt x="3789884" y="5662230"/>
                </a:lnTo>
                <a:lnTo>
                  <a:pt x="3789884" y="5056400"/>
                </a:lnTo>
                <a:lnTo>
                  <a:pt x="5168980" y="5056400"/>
                </a:lnTo>
                <a:lnTo>
                  <a:pt x="5168980" y="4956108"/>
                </a:lnTo>
                <a:lnTo>
                  <a:pt x="3789884" y="4956108"/>
                </a:lnTo>
                <a:close/>
                <a:moveTo>
                  <a:pt x="0" y="0"/>
                </a:moveTo>
                <a:lnTo>
                  <a:pt x="3685975" y="0"/>
                </a:lnTo>
                <a:lnTo>
                  <a:pt x="3685975" y="4956108"/>
                </a:lnTo>
                <a:lnTo>
                  <a:pt x="0" y="4956108"/>
                </a:lnTo>
                <a:close/>
              </a:path>
            </a:pathLst>
          </a:custGeom>
          <a:solidFill>
            <a:srgbClr val="E6C46D"/>
          </a:solidFill>
        </p:spPr>
      </p:pic>
      <p:sp>
        <p:nvSpPr>
          <p:cNvPr id="6" name="TextBox 5">
            <a:extLst>
              <a:ext uri="{FF2B5EF4-FFF2-40B4-BE49-F238E27FC236}">
                <a16:creationId xmlns:a16="http://schemas.microsoft.com/office/drawing/2014/main" id="{70EEE5F8-67DD-6D5E-E426-075D2228EF3D}"/>
              </a:ext>
            </a:extLst>
          </p:cNvPr>
          <p:cNvSpPr txBox="1"/>
          <p:nvPr/>
        </p:nvSpPr>
        <p:spPr>
          <a:xfrm>
            <a:off x="347557" y="1362902"/>
            <a:ext cx="5377784"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This project successfully demonstrates the development of an end-to-end machine learning solution for predicting heart disease. It includes all major stages such as data analysis, preprocessing, model building, evaluation, and deployment. The final model provides reliable predictions and has been integrated into a web application for practical use. The project highlights the potential of machine learning in improving healthcare decision-making and early disease detection.</a:t>
            </a:r>
            <a:endParaRPr lang="en-US" sz="2400" dirty="0"/>
          </a:p>
        </p:txBody>
      </p:sp>
    </p:spTree>
    <p:extLst>
      <p:ext uri="{BB962C8B-B14F-4D97-AF65-F5344CB8AC3E}">
        <p14:creationId xmlns:p14="http://schemas.microsoft.com/office/powerpoint/2010/main" val="1056644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704E5-B480-1404-650D-CB9DA7BB8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52E44-D514-1EA3-3E27-FF80063E7CD8}"/>
              </a:ext>
            </a:extLst>
          </p:cNvPr>
          <p:cNvSpPr>
            <a:spLocks noGrp="1"/>
          </p:cNvSpPr>
          <p:nvPr>
            <p:ph type="title"/>
          </p:nvPr>
        </p:nvSpPr>
        <p:spPr>
          <a:xfrm>
            <a:off x="457200" y="690880"/>
            <a:ext cx="11267440" cy="639933"/>
          </a:xfrm>
        </p:spPr>
        <p:txBody>
          <a:bodyPr/>
          <a:lstStyle/>
          <a:p>
            <a:r>
              <a:rPr lang="en-US" b="1" dirty="0">
                <a:solidFill>
                  <a:schemeClr val="accent5">
                    <a:lumMod val="49000"/>
                  </a:schemeClr>
                </a:solidFill>
              </a:rPr>
              <a:t>Future </a:t>
            </a:r>
            <a:r>
              <a:rPr lang="en-US" b="1">
                <a:solidFill>
                  <a:schemeClr val="accent5">
                    <a:lumMod val="49000"/>
                  </a:schemeClr>
                </a:solidFill>
              </a:rPr>
              <a:t>improvements</a:t>
            </a:r>
            <a:endParaRPr lang="en-US" b="1" dirty="0">
              <a:solidFill>
                <a:schemeClr val="accent5">
                  <a:lumMod val="49000"/>
                </a:schemeClr>
              </a:solidFill>
            </a:endParaRPr>
          </a:p>
        </p:txBody>
      </p:sp>
      <p:sp>
        <p:nvSpPr>
          <p:cNvPr id="3" name="Content Placeholder 2">
            <a:extLst>
              <a:ext uri="{FF2B5EF4-FFF2-40B4-BE49-F238E27FC236}">
                <a16:creationId xmlns:a16="http://schemas.microsoft.com/office/drawing/2014/main" id="{3598CD25-576D-8B83-AC7A-28184D8A55E4}"/>
              </a:ext>
            </a:extLst>
          </p:cNvPr>
          <p:cNvSpPr>
            <a:spLocks noGrp="1"/>
          </p:cNvSpPr>
          <p:nvPr>
            <p:ph sz="half" idx="13"/>
          </p:nvPr>
        </p:nvSpPr>
        <p:spPr>
          <a:xfrm>
            <a:off x="454757" y="1615674"/>
            <a:ext cx="11269883" cy="4935105"/>
          </a:xfrm>
        </p:spPr>
        <p:txBody>
          <a:bodyPr>
            <a:normAutofit/>
          </a:bodyPr>
          <a:lstStyle/>
          <a:p>
            <a:r>
              <a:rPr lang="en-US">
                <a:ea typeface="+mn-lt"/>
                <a:cs typeface="+mn-lt"/>
              </a:rPr>
              <a:t>Use a larger and more diverse real-world dataset to improve model generalization and reliability</a:t>
            </a:r>
            <a:endParaRPr lang="en-US" dirty="0"/>
          </a:p>
          <a:p>
            <a:r>
              <a:rPr lang="en-US" dirty="0">
                <a:ea typeface="+mn-lt"/>
                <a:cs typeface="+mn-lt"/>
              </a:rPr>
              <a:t>Apply advanced machine learning algorithms such as Gradient Boosting, </a:t>
            </a:r>
            <a:r>
              <a:rPr lang="en-US" dirty="0" err="1">
                <a:ea typeface="+mn-lt"/>
                <a:cs typeface="+mn-lt"/>
              </a:rPr>
              <a:t>XGBoost</a:t>
            </a:r>
            <a:r>
              <a:rPr lang="en-US" dirty="0">
                <a:ea typeface="+mn-lt"/>
                <a:cs typeface="+mn-lt"/>
              </a:rPr>
              <a:t>, or Deep Learning models. </a:t>
            </a:r>
          </a:p>
          <a:p>
            <a:r>
              <a:rPr lang="en-US" dirty="0">
                <a:ea typeface="+mn-lt"/>
                <a:cs typeface="+mn-lt"/>
              </a:rPr>
              <a:t>Perform hyperparameter tuning using techniques like </a:t>
            </a:r>
            <a:r>
              <a:rPr lang="en-US" dirty="0" err="1">
                <a:ea typeface="+mn-lt"/>
                <a:cs typeface="+mn-lt"/>
              </a:rPr>
              <a:t>GridSearchCV</a:t>
            </a:r>
            <a:r>
              <a:rPr lang="en-US" dirty="0">
                <a:ea typeface="+mn-lt"/>
                <a:cs typeface="+mn-lt"/>
              </a:rPr>
              <a:t> or </a:t>
            </a:r>
            <a:r>
              <a:rPr lang="en-US" dirty="0" err="1">
                <a:ea typeface="+mn-lt"/>
                <a:cs typeface="+mn-lt"/>
              </a:rPr>
              <a:t>RandomizedSearchCV</a:t>
            </a:r>
            <a:r>
              <a:rPr lang="en-US" dirty="0">
                <a:ea typeface="+mn-lt"/>
                <a:cs typeface="+mn-lt"/>
              </a:rPr>
              <a:t> to enhance performance.</a:t>
            </a:r>
            <a:endParaRPr lang="en-US" dirty="0"/>
          </a:p>
          <a:p>
            <a:r>
              <a:rPr lang="en-US">
                <a:ea typeface="+mn-lt"/>
                <a:cs typeface="+mn-lt"/>
              </a:rPr>
              <a:t>Implement cross-validation to ensure robust and unbiased model evaluation.</a:t>
            </a:r>
            <a:endParaRPr lang="en-US" dirty="0"/>
          </a:p>
          <a:p>
            <a:r>
              <a:rPr lang="en-US" dirty="0">
                <a:ea typeface="+mn-lt"/>
                <a:cs typeface="+mn-lt"/>
              </a:rPr>
              <a:t>Develop REST APIs using Flask or </a:t>
            </a:r>
            <a:r>
              <a:rPr lang="en-US" dirty="0" err="1">
                <a:ea typeface="+mn-lt"/>
                <a:cs typeface="+mn-lt"/>
              </a:rPr>
              <a:t>FastAPI</a:t>
            </a:r>
            <a:r>
              <a:rPr lang="en-US" dirty="0">
                <a:ea typeface="+mn-lt"/>
                <a:cs typeface="+mn-lt"/>
              </a:rPr>
              <a:t> for better integration with external systems.</a:t>
            </a:r>
            <a:endParaRPr lang="en-US" dirty="0"/>
          </a:p>
          <a:p>
            <a:r>
              <a:rPr lang="en-US">
                <a:ea typeface="+mn-lt"/>
                <a:cs typeface="+mn-lt"/>
              </a:rPr>
              <a:t>Deploy the application on cloud platforms such as AWS, Azure, or Heroku for wider accessibility.</a:t>
            </a:r>
            <a:endParaRPr lang="en-US" dirty="0"/>
          </a:p>
          <a:p>
            <a:r>
              <a:rPr lang="en-US" dirty="0">
                <a:ea typeface="+mn-lt"/>
                <a:cs typeface="+mn-lt"/>
              </a:rPr>
              <a:t>Incorporate additional features such as patient medical history and lifestyle habits for better predictions.</a:t>
            </a:r>
            <a:endParaRPr lang="en-US" dirty="0"/>
          </a:p>
          <a:p>
            <a:r>
              <a:rPr lang="en-US">
                <a:ea typeface="+mn-lt"/>
                <a:cs typeface="+mn-lt"/>
              </a:rPr>
              <a:t>Improve the user interface and user experience to make the application more interactive and user-friendly.</a:t>
            </a:r>
            <a:endParaRPr lang="en-US" dirty="0"/>
          </a:p>
          <a:p>
            <a:r>
              <a:rPr lang="en-US">
                <a:ea typeface="+mn-lt"/>
                <a:cs typeface="+mn-lt"/>
              </a:rPr>
              <a:t>Enable real-time data input and monitoring for continuous prediction updates.</a:t>
            </a:r>
            <a:endParaRPr lang="en-US" dirty="0">
              <a:ea typeface="+mn-lt"/>
              <a:cs typeface="+mn-lt"/>
            </a:endParaRPr>
          </a:p>
          <a:p>
            <a:r>
              <a:rPr lang="en-US">
                <a:ea typeface="+mn-lt"/>
                <a:cs typeface="+mn-lt"/>
              </a:rPr>
              <a:t>Add explainable AI techniques to provide transparency in model predictions.</a:t>
            </a:r>
            <a:endParaRPr lang="en-US" dirty="0">
              <a:ea typeface="+mn-lt"/>
              <a:cs typeface="+mn-lt"/>
            </a:endParaRPr>
          </a:p>
          <a:p>
            <a:endParaRPr lang="en-US" dirty="0"/>
          </a:p>
          <a:p>
            <a:endParaRPr lang="en-US" dirty="0"/>
          </a:p>
        </p:txBody>
      </p:sp>
    </p:spTree>
    <p:extLst>
      <p:ext uri="{BB962C8B-B14F-4D97-AF65-F5344CB8AC3E}">
        <p14:creationId xmlns:p14="http://schemas.microsoft.com/office/powerpoint/2010/main" val="4266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B045D6AF-532B-394C-0C6F-38B6628CE9DF}"/>
              </a:ext>
            </a:extLst>
          </p:cNvPr>
          <p:cNvSpPr>
            <a:spLocks noGrp="1"/>
          </p:cNvSpPr>
          <p:nvPr>
            <p:ph type="title"/>
          </p:nvPr>
        </p:nvSpPr>
        <p:spPr>
          <a:xfrm>
            <a:off x="462151" y="666984"/>
            <a:ext cx="3717358" cy="1977950"/>
          </a:xfrm>
        </p:spPr>
        <p:txBody>
          <a:bodyPr/>
          <a:lstStyle/>
          <a:p>
            <a:r>
              <a:rPr lang="en-US" b="1" dirty="0">
                <a:solidFill>
                  <a:schemeClr val="accent5">
                    <a:lumMod val="49000"/>
                  </a:schemeClr>
                </a:solidFill>
              </a:rPr>
              <a:t>Thank you</a:t>
            </a:r>
          </a:p>
        </p:txBody>
      </p:sp>
      <p:sp>
        <p:nvSpPr>
          <p:cNvPr id="3" name="Content Placeholder 2">
            <a:extLst>
              <a:ext uri="{FF2B5EF4-FFF2-40B4-BE49-F238E27FC236}">
                <a16:creationId xmlns:a16="http://schemas.microsoft.com/office/drawing/2014/main" id="{2F59B25D-9615-9332-C32E-4F458417E11E}"/>
              </a:ext>
            </a:extLst>
          </p:cNvPr>
          <p:cNvSpPr>
            <a:spLocks noGrp="1"/>
          </p:cNvSpPr>
          <p:nvPr>
            <p:ph sz="quarter" idx="4"/>
          </p:nvPr>
        </p:nvSpPr>
        <p:spPr/>
        <p:txBody>
          <a:bodyPr/>
          <a:lstStyle/>
          <a:p>
            <a:r>
              <a:rPr lang="en-US"/>
              <a:t>SOUJANYA PROKASH SINGHA</a:t>
            </a:r>
            <a:endParaRPr lang="en-US" dirty="0"/>
          </a:p>
          <a:p>
            <a:r>
              <a:rPr lang="en-US"/>
              <a:t>E ID :- </a:t>
            </a:r>
            <a:r>
              <a:rPr lang="en-US">
                <a:solidFill>
                  <a:schemeClr val="tx1"/>
                </a:solidFill>
                <a:highlight>
                  <a:srgbClr val="FFFFFF"/>
                </a:highlight>
                <a:latin typeface="Arial"/>
                <a:cs typeface="Arial"/>
              </a:rPr>
              <a:t>ER924985092025781</a:t>
            </a:r>
            <a:endParaRPr lang="en-US">
              <a:solidFill>
                <a:schemeClr val="tx1"/>
              </a:solidFill>
            </a:endParaRPr>
          </a:p>
          <a:p>
            <a:r>
              <a:rPr lang="en-US"/>
              <a:t>Soujanyaprokashsingha@gmail.com</a:t>
            </a:r>
          </a:p>
          <a:p>
            <a:endParaRPr lang="en-US" dirty="0"/>
          </a:p>
        </p:txBody>
      </p:sp>
      <p:pic>
        <p:nvPicPr>
          <p:cNvPr id="23" name="Picture Placeholder 22" descr="A group of people giving each other a high five">
            <a:extLst>
              <a:ext uri="{FF2B5EF4-FFF2-40B4-BE49-F238E27FC236}">
                <a16:creationId xmlns:a16="http://schemas.microsoft.com/office/drawing/2014/main" id="{D92A2E6E-E7AB-92FB-0E6F-133483021C22}"/>
              </a:ext>
            </a:extLst>
          </p:cNvPr>
          <p:cNvPicPr>
            <a:picLocks noGrp="1" noChangeAspect="1"/>
          </p:cNvPicPr>
          <p:nvPr>
            <p:ph type="pic" sz="quarter" idx="13"/>
          </p:nvPr>
        </p:nvPicPr>
        <p:blipFill rotWithShape="1">
          <a:blip r:embed="rId3"/>
          <a:srcRect l="6095" r="6095"/>
          <a:stretch/>
        </p:blipFill>
        <p:spPr/>
      </p:pic>
    </p:spTree>
    <p:extLst>
      <p:ext uri="{BB962C8B-B14F-4D97-AF65-F5344CB8AC3E}">
        <p14:creationId xmlns:p14="http://schemas.microsoft.com/office/powerpoint/2010/main" val="2770959368"/>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679C34-122C-4127-90D9-C271AEE94CE4}">
  <ds:schemaRefs>
    <ds:schemaRef ds:uri="http://schemas.microsoft.com/sharepoint/v3/contenttype/forms"/>
  </ds:schemaRefs>
</ds:datastoreItem>
</file>

<file path=customXml/itemProps2.xml><?xml version="1.0" encoding="utf-8"?>
<ds:datastoreItem xmlns:ds="http://schemas.openxmlformats.org/officeDocument/2006/customXml" ds:itemID="{8C26303C-A89C-422C-9097-BDF7002EFC5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0437772-7826-4CEE-8E78-517B414A42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DividendVTI</Template>
  <TotalTime>0</TotalTime>
  <Words>420</Words>
  <Application>Microsoft Office PowerPoint</Application>
  <PresentationFormat>Widescreen</PresentationFormat>
  <Paragraphs>123</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DividendVTI</vt:lpstr>
      <vt:lpstr>Heart disease prediction</vt:lpstr>
      <vt:lpstr>Agenda </vt:lpstr>
      <vt:lpstr>Project Overview</vt:lpstr>
      <vt:lpstr>Business Problem</vt:lpstr>
      <vt:lpstr>Dataset Overview</vt:lpstr>
      <vt:lpstr>Exploratory data analysis</vt:lpstr>
      <vt:lpstr>Correlation Heatmap</vt:lpstr>
      <vt:lpstr>Outlier detection</vt:lpstr>
      <vt:lpstr>Data preprocessing</vt:lpstr>
      <vt:lpstr>Model building</vt:lpstr>
      <vt:lpstr>Model evaluation and model selection</vt:lpstr>
      <vt:lpstr>Evaluation of models based on their metrics</vt:lpstr>
      <vt:lpstr>Model saving</vt:lpstr>
      <vt:lpstr>Building the web application</vt:lpstr>
      <vt:lpstr>Web Application Demo </vt:lpstr>
      <vt:lpstr>Conclusion</vt:lpstr>
      <vt:lpstr>Future improvements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405</cp:revision>
  <dcterms:created xsi:type="dcterms:W3CDTF">2026-04-20T06:12:06Z</dcterms:created>
  <dcterms:modified xsi:type="dcterms:W3CDTF">2026-04-20T08:06:45Z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